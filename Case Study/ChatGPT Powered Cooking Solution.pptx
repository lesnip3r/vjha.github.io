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 Medium" pitchFamily="2" charset="0"/>
      <p:regular r:id="rId13"/>
    </p:embeddedFont>
    <p:embeddedFont>
      <p:font typeface="Inter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60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645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7076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Leveraging ChatGPT for Cooking Solutions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547824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Product Vision, Wireframes &amp; Go-to-Market Strategy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89" y="5581538"/>
            <a:ext cx="7556421" cy="89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By: Vidhu Jha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317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u="sng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Executive Summary</a:t>
            </a:r>
            <a:endParaRPr lang="en-US" sz="3550" b="1" u="sng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83775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583775"/>
            <a:ext cx="11681936" cy="904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assistants such as ChatGPT are fundamentally transforming the way people approach home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cooking by intelligently addressing a wide range of common user pain points, making the entire culinary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more accessible and enjoyable.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944660"/>
            <a:ext cx="1134070" cy="13608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54674" y="3963682"/>
            <a:ext cx="11681936" cy="904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innovative solution is specifically designed to meet the diverse needs of busy professionals who require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and nutritious meals, health-conscious families managing dietary restrictions and nutrition goals, as well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adventurous culinary explorers, ensuring broad appeal across multiple user segments.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305544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5378789"/>
            <a:ext cx="116819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User-centric design, robust GTM, and seamless integration position ChatGPT Cooking Assistant for market leadership.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1283"/>
            <a:ext cx="452794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u="sng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Identified Cooking Problems</a:t>
            </a:r>
            <a:endParaRPr lang="en-US" sz="2650" b="1" u="sng" dirty="0"/>
          </a:p>
        </p:txBody>
      </p:sp>
      <p:sp>
        <p:nvSpPr>
          <p:cNvPr id="3" name="Shape 1"/>
          <p:cNvSpPr/>
          <p:nvPr/>
        </p:nvSpPr>
        <p:spPr>
          <a:xfrm>
            <a:off x="793790" y="1620203"/>
            <a:ext cx="13042821" cy="5868114"/>
          </a:xfrm>
          <a:prstGeom prst="roundRect">
            <a:avLst>
              <a:gd name="adj" fmla="val 58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62782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1771531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Overload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1771531"/>
            <a:ext cx="60525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Fatigue from constant meal choices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454170" y="177153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🤔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227814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2421850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Cooking Fatigue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940379" y="2421850"/>
            <a:ext cx="60525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Routine drains motivation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1454170" y="242185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😩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292846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3072170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Ingredient Anxiety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940379" y="3072170"/>
            <a:ext cx="60525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 over unused ingredients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1454170" y="3072170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🥦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357878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3722489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Overwhelming Recipes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40379" y="3722489"/>
            <a:ext cx="60525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Intimidation by complexity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1454170" y="372248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📜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422910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4372808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Dietary Restrictions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940379" y="4372808"/>
            <a:ext cx="60525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 Managing allergies/diets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1454170" y="437280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🚫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487941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343" y="5023128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Crunch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940379" y="5023128"/>
            <a:ext cx="60525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time for fresh meals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1454170" y="502312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⏱️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801410" y="552973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28343" y="5673447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Cooking Confidence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4940379" y="5673447"/>
            <a:ext cx="60525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Self-doubt from inexperience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11454170" y="5673447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🧑‍🍳</a:t>
            </a:r>
            <a:endParaRPr lang="en-US" sz="1750" dirty="0"/>
          </a:p>
        </p:txBody>
      </p:sp>
      <p:sp>
        <p:nvSpPr>
          <p:cNvPr id="32" name="Shape 30"/>
          <p:cNvSpPr/>
          <p:nvPr/>
        </p:nvSpPr>
        <p:spPr>
          <a:xfrm>
            <a:off x="801410" y="618005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28343" y="6323767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Waste Guilt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940379" y="6323767"/>
            <a:ext cx="60525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Guilt over discarded food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11454170" y="6323767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♻️</a:t>
            </a:r>
            <a:endParaRPr lang="en-US" sz="1750" dirty="0"/>
          </a:p>
        </p:txBody>
      </p:sp>
      <p:sp>
        <p:nvSpPr>
          <p:cNvPr id="36" name="Shape 34"/>
          <p:cNvSpPr/>
          <p:nvPr/>
        </p:nvSpPr>
        <p:spPr>
          <a:xfrm>
            <a:off x="801410" y="683037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28343" y="6974086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Uncertainty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4940379" y="6974086"/>
            <a:ext cx="60525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over nutrition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11454170" y="6974086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🥗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614005"/>
            <a:ext cx="4656534" cy="418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u="sng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ChatGPT-Powered Use Cases</a:t>
            </a:r>
            <a:endParaRPr lang="en-US" sz="2600" b="1" u="sng" dirty="0"/>
          </a:p>
        </p:txBody>
      </p:sp>
      <p:sp>
        <p:nvSpPr>
          <p:cNvPr id="3" name="Shape 1"/>
          <p:cNvSpPr/>
          <p:nvPr/>
        </p:nvSpPr>
        <p:spPr>
          <a:xfrm>
            <a:off x="781526" y="1479233"/>
            <a:ext cx="13067348" cy="6136481"/>
          </a:xfrm>
          <a:prstGeom prst="roundRect">
            <a:avLst>
              <a:gd name="adj" fmla="val 54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9146" y="1486853"/>
            <a:ext cx="13052108" cy="6404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2508" y="1628418"/>
            <a:ext cx="281273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Overload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79344" y="1628418"/>
            <a:ext cx="737711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meal suggestions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2110561" y="1628418"/>
            <a:ext cx="1507450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🍽️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89146" y="2127290"/>
            <a:ext cx="13052108" cy="6404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12508" y="2268855"/>
            <a:ext cx="281273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Cooking Fatigue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279344" y="2268855"/>
            <a:ext cx="737711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plans, creative themes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2110561" y="2268855"/>
            <a:ext cx="1507450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📅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89146" y="2767727"/>
            <a:ext cx="13052108" cy="6404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12508" y="2909292"/>
            <a:ext cx="281273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Ingredient Anxiety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279344" y="2909292"/>
            <a:ext cx="737711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time ingredient use tips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2110561" y="2909292"/>
            <a:ext cx="1507450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🥕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89146" y="3408164"/>
            <a:ext cx="13052108" cy="6404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12508" y="3549729"/>
            <a:ext cx="281273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Overwhelming Recipes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279344" y="3549729"/>
            <a:ext cx="737711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by step, simplified guidance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2110561" y="3549729"/>
            <a:ext cx="1507450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👩‍🍳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89146" y="4048601"/>
            <a:ext cx="13052108" cy="6404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12508" y="4190167"/>
            <a:ext cx="281273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Dietary Restrictions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279344" y="4190167"/>
            <a:ext cx="737711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 Allergy/diet filtering, safe substitutions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2110561" y="4190167"/>
            <a:ext cx="1507450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89146" y="4689038"/>
            <a:ext cx="13052108" cy="6404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12508" y="4830604"/>
            <a:ext cx="281273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Crunch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279344" y="4830604"/>
            <a:ext cx="737711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meal recommendations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2110561" y="4830604"/>
            <a:ext cx="1507450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789146" y="5329476"/>
            <a:ext cx="13052108" cy="9977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12508" y="5471041"/>
            <a:ext cx="2812733" cy="714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Cooking Confidence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4279344" y="5471041"/>
            <a:ext cx="737711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time encouragement, troubleshooting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12110561" y="5471041"/>
            <a:ext cx="1507450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💬</a:t>
            </a:r>
            <a:endParaRPr lang="en-US" sz="1750" dirty="0"/>
          </a:p>
        </p:txBody>
      </p:sp>
      <p:sp>
        <p:nvSpPr>
          <p:cNvPr id="32" name="Shape 30"/>
          <p:cNvSpPr/>
          <p:nvPr/>
        </p:nvSpPr>
        <p:spPr>
          <a:xfrm>
            <a:off x="789146" y="6327219"/>
            <a:ext cx="13052108" cy="6404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12508" y="6468785"/>
            <a:ext cx="281273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Food Waste Guilt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279344" y="6468785"/>
            <a:ext cx="737711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Leftover repurposing, pantry tracking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12110561" y="6468785"/>
            <a:ext cx="1507450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🗂️</a:t>
            </a:r>
            <a:endParaRPr lang="en-US" sz="1750" dirty="0"/>
          </a:p>
        </p:txBody>
      </p:sp>
      <p:sp>
        <p:nvSpPr>
          <p:cNvPr id="36" name="Shape 34"/>
          <p:cNvSpPr/>
          <p:nvPr/>
        </p:nvSpPr>
        <p:spPr>
          <a:xfrm>
            <a:off x="789146" y="6967657"/>
            <a:ext cx="13052108" cy="6404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12508" y="7109222"/>
            <a:ext cx="281273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Uncertainty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4279344" y="7109222"/>
            <a:ext cx="737711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Nutrition analysis, balanced plate suggestions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12110561" y="7109222"/>
            <a:ext cx="1507450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712" y="454392"/>
            <a:ext cx="2356247" cy="60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3200" b="1" u="sng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Personas</a:t>
            </a:r>
            <a:endParaRPr lang="en-US" sz="3200" b="1" u="sng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12" y="1079778"/>
            <a:ext cx="4254341" cy="4254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9712" y="5510808"/>
            <a:ext cx="3434239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Busy Professional (Aisha, 28, Female):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49712" y="5913239"/>
            <a:ext cx="4254341" cy="1256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Story:</a:t>
            </a: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"Between client calls and late-night decks, I barely get time to think about meals. I need something healthy, quick, and tailored to my preferences, something that doesn’t require a ton of prep or mental bandwidth."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9712" y="7310676"/>
            <a:ext cx="4254341" cy="502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Needs:</a:t>
            </a: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Fast, healthy meals; automated planning; voice-guided instructions.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816" y="1079778"/>
            <a:ext cx="4254341" cy="42543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94816" y="5510808"/>
            <a:ext cx="4118253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Health-Conscious Parent (Madhav, 37, Male):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194816" y="5913239"/>
            <a:ext cx="4254341" cy="1256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Story:</a:t>
            </a: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"I’m always juggling nutrition with what my kids will actually eat. One child has a nut allergy, and the other is lactose intolerant. So, I need tasty, safe recipes and help staying ahead of meal planning. Bonus if it makes grocery shopping smarter."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194816" y="7310676"/>
            <a:ext cx="4254341" cy="502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Needs:</a:t>
            </a: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Allergen-aware recipes; nutritional analysis; family meal planning.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9920" y="1079778"/>
            <a:ext cx="4254341" cy="425434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39920" y="5510808"/>
            <a:ext cx="4053245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Culinary Explorer &amp; Techie (Vidhu, 23, Male):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839920" y="5913239"/>
            <a:ext cx="4254341" cy="1256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Story:</a:t>
            </a: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"I love trying global cuisines, but I’m still learning the basics. I want to experiment - make Thai curry today, sourdough next week and so on. I’ve got smart appliances, a smartwatch, and I want my AI chef to vibe with my kitchen."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9839920" y="7310676"/>
            <a:ext cx="4254341" cy="502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Needs:</a:t>
            </a:r>
            <a:r>
              <a:rPr lang="en-US" sz="12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Global recipes; smart appliance integration; skill-building tips.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386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800" b="1" u="sng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Integration Options</a:t>
            </a:r>
            <a:endParaRPr lang="en-US" sz="2800" b="1" u="sng" dirty="0"/>
          </a:p>
        </p:txBody>
      </p:sp>
      <p:sp>
        <p:nvSpPr>
          <p:cNvPr id="3" name="Shape 1"/>
          <p:cNvSpPr/>
          <p:nvPr/>
        </p:nvSpPr>
        <p:spPr>
          <a:xfrm>
            <a:off x="793790" y="2232779"/>
            <a:ext cx="13042821" cy="4642961"/>
          </a:xfrm>
          <a:prstGeom prst="roundRect">
            <a:avLst>
              <a:gd name="adj" fmla="val 73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24039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384108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Kitchen Appliance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2384108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Hands-free, personalized, scalable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151388" y="2384108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🧑‍🍳</a:t>
            </a: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📱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289071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034427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Standalone Mobile App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940379" y="3034427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hub, flexible, accessible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151388" y="3034427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📱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541038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3684746"/>
            <a:ext cx="3450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Speaker &amp; Voice Assistant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940379" y="3684746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Instant, hands-free help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151388" y="3684746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🗣️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554260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4697968"/>
            <a:ext cx="3450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Platform/Browser Extension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4940379" y="4697968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Contextual help, no new device needed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151388" y="4697968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💻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56748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5711190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Wearable Device Support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940379" y="5711190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Timers, reminders, multitasking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151388" y="5711190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⌚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621780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343" y="6361509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for Third-Party Apps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940379" y="6361509"/>
            <a:ext cx="474976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 reach, embedded experience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0151388" y="6361509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🔗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7457" y="177185"/>
            <a:ext cx="6930271" cy="325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u="sng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Wireframe Summary (1/2): Home, Chat, Recipe Discovery</a:t>
            </a:r>
            <a:endParaRPr lang="en-US" sz="2400" b="1" u="sng" dirty="0"/>
          </a:p>
        </p:txBody>
      </p:sp>
      <p:sp>
        <p:nvSpPr>
          <p:cNvPr id="3" name="Text 1"/>
          <p:cNvSpPr/>
          <p:nvPr/>
        </p:nvSpPr>
        <p:spPr>
          <a:xfrm>
            <a:off x="879600" y="924046"/>
            <a:ext cx="2169438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Home/Dashboard: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57" y="1366362"/>
            <a:ext cx="2857500" cy="509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7458" y="6651665"/>
            <a:ext cx="2857500" cy="55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Functionality:</a:t>
            </a: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Personalized greeting, quick actions, meal suggestions, reminders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728301" y="924046"/>
            <a:ext cx="2169438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Chat Assistant: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7558" y="1366362"/>
            <a:ext cx="2857500" cy="5090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7559" y="6651665"/>
            <a:ext cx="2857500" cy="55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Functionality:</a:t>
            </a: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Persistent chat, voice input, smart prompts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0293973" y="918483"/>
            <a:ext cx="2169438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Recipe Discovery: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7659" y="1366362"/>
            <a:ext cx="2857500" cy="568758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81861" y="7253119"/>
            <a:ext cx="4189095" cy="277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Functionality:</a:t>
            </a:r>
            <a:r>
              <a:rPr lang="en-US" sz="13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Search, filters, recipe cards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9003" y="395067"/>
            <a:ext cx="7512367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u="sng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Wireframe Summary (2/2): Recipe Detail, Meal Planning, Profile</a:t>
            </a:r>
            <a:endParaRPr lang="en-US" sz="2400" b="1" u="sng" dirty="0"/>
          </a:p>
        </p:txBody>
      </p:sp>
      <p:sp>
        <p:nvSpPr>
          <p:cNvPr id="3" name="Text 1"/>
          <p:cNvSpPr/>
          <p:nvPr/>
        </p:nvSpPr>
        <p:spPr>
          <a:xfrm>
            <a:off x="582691" y="887730"/>
            <a:ext cx="2873812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Recipe Detail/Step-by-Step: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91" y="1347669"/>
            <a:ext cx="2857500" cy="6035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2691" y="7575233"/>
            <a:ext cx="3053138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Functionality:</a:t>
            </a: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Editable ingredients, step-by-step mode, timers, pro tips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826851" y="936223"/>
            <a:ext cx="2139434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Meal Planning: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6365" y="1347669"/>
            <a:ext cx="2857500" cy="5966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06365" y="7506653"/>
            <a:ext cx="3360692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Functionality:</a:t>
            </a: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Calendar view, auto-generated shopping list, pantry tracker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859631" y="909553"/>
            <a:ext cx="2139434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Profile: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0038" y="1347669"/>
            <a:ext cx="2857500" cy="5364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906238" y="6904673"/>
            <a:ext cx="2982448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Functionality:</a:t>
            </a: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Dietary settings, appliance integration, saved recipes/history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0796" y="656987"/>
            <a:ext cx="9515594" cy="348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u="sng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Go-to-Market Strategy: Objectives, Market Sizing, Differentiation, Pricing</a:t>
            </a:r>
            <a:endParaRPr lang="en-US" sz="2400" b="1" u="sng" dirty="0"/>
          </a:p>
        </p:txBody>
      </p:sp>
      <p:sp>
        <p:nvSpPr>
          <p:cNvPr id="3" name="Shape 1"/>
          <p:cNvSpPr/>
          <p:nvPr/>
        </p:nvSpPr>
        <p:spPr>
          <a:xfrm>
            <a:off x="650796" y="1633418"/>
            <a:ext cx="6571417" cy="91440"/>
          </a:xfrm>
          <a:prstGeom prst="roundRect">
            <a:avLst>
              <a:gd name="adj" fmla="val 30504"/>
            </a:avLst>
          </a:prstGeom>
          <a:solidFill>
            <a:srgbClr val="AC9EF5"/>
          </a:solidFill>
          <a:ln/>
        </p:spPr>
      </p:sp>
      <p:sp>
        <p:nvSpPr>
          <p:cNvPr id="4" name="Shape 2"/>
          <p:cNvSpPr/>
          <p:nvPr/>
        </p:nvSpPr>
        <p:spPr>
          <a:xfrm>
            <a:off x="3657540" y="1377434"/>
            <a:ext cx="557808" cy="557808"/>
          </a:xfrm>
          <a:prstGeom prst="roundRect">
            <a:avLst>
              <a:gd name="adj" fmla="val 163927"/>
            </a:avLst>
          </a:prstGeom>
          <a:solidFill>
            <a:srgbClr val="AC9EF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823" y="1516856"/>
            <a:ext cx="223123" cy="2788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12" y="2121098"/>
            <a:ext cx="2324338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Objectives: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9512" y="2523172"/>
            <a:ext cx="6153983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500k active users by Year 1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59512" y="2885718"/>
            <a:ext cx="6153983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 &gt; 60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59512" y="3248263"/>
            <a:ext cx="6153983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$2M ARR by Year 2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408069" y="1633418"/>
            <a:ext cx="6571536" cy="91440"/>
          </a:xfrm>
          <a:prstGeom prst="roundRect">
            <a:avLst>
              <a:gd name="adj" fmla="val 30504"/>
            </a:avLst>
          </a:prstGeom>
          <a:solidFill>
            <a:srgbClr val="AC9EF5"/>
          </a:solidFill>
          <a:ln/>
        </p:spPr>
      </p:sp>
      <p:sp>
        <p:nvSpPr>
          <p:cNvPr id="11" name="Shape 8"/>
          <p:cNvSpPr/>
          <p:nvPr/>
        </p:nvSpPr>
        <p:spPr>
          <a:xfrm>
            <a:off x="10414933" y="1377434"/>
            <a:ext cx="557808" cy="557808"/>
          </a:xfrm>
          <a:prstGeom prst="roundRect">
            <a:avLst>
              <a:gd name="adj" fmla="val 163927"/>
            </a:avLst>
          </a:prstGeom>
          <a:solidFill>
            <a:srgbClr val="AC9EF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215" y="1516856"/>
            <a:ext cx="223123" cy="2788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16785" y="2121098"/>
            <a:ext cx="2324338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Market Sizing: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16785" y="2523172"/>
            <a:ext cx="6154103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TAM: 1.5B global home cooks with smartphone/internet access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616785" y="2885718"/>
            <a:ext cx="6154103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SAM: 250M tech-savvy, health-conscious users in urban and suburban markets (US, EU, India, East Asia)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7616785" y="3545800"/>
            <a:ext cx="6154103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SOM(Year 1): Targeting 1M+ early adopters via digital channels and appliance partnerships.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650796" y="4791432"/>
            <a:ext cx="6571417" cy="91440"/>
          </a:xfrm>
          <a:prstGeom prst="roundRect">
            <a:avLst>
              <a:gd name="adj" fmla="val 30504"/>
            </a:avLst>
          </a:prstGeom>
          <a:solidFill>
            <a:srgbClr val="AC9EF5"/>
          </a:solidFill>
          <a:ln/>
        </p:spPr>
      </p:sp>
      <p:sp>
        <p:nvSpPr>
          <p:cNvPr id="18" name="Shape 14"/>
          <p:cNvSpPr/>
          <p:nvPr/>
        </p:nvSpPr>
        <p:spPr>
          <a:xfrm>
            <a:off x="3657540" y="4535448"/>
            <a:ext cx="557808" cy="557808"/>
          </a:xfrm>
          <a:prstGeom prst="roundRect">
            <a:avLst>
              <a:gd name="adj" fmla="val 163927"/>
            </a:avLst>
          </a:prstGeom>
          <a:solidFill>
            <a:srgbClr val="AC9EF5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4823" y="4674870"/>
            <a:ext cx="223123" cy="2788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9512" y="5279112"/>
            <a:ext cx="2324338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Differentiation: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59512" y="5681186"/>
            <a:ext cx="6153983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natural, adaptive AI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59512" y="6043732"/>
            <a:ext cx="6153983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for user preferences, dietary needs and kitchen inventory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59512" y="6703814"/>
            <a:ext cx="6153983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Cross-device for seamless experience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859512" y="7066359"/>
            <a:ext cx="6153983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Hands-free inclusive design for accessibility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7408069" y="4791432"/>
            <a:ext cx="6571536" cy="91440"/>
          </a:xfrm>
          <a:prstGeom prst="roundRect">
            <a:avLst>
              <a:gd name="adj" fmla="val 30504"/>
            </a:avLst>
          </a:prstGeom>
          <a:solidFill>
            <a:srgbClr val="AC9EF5"/>
          </a:solidFill>
          <a:ln/>
        </p:spPr>
      </p:sp>
      <p:sp>
        <p:nvSpPr>
          <p:cNvPr id="26" name="Shape 21"/>
          <p:cNvSpPr/>
          <p:nvPr/>
        </p:nvSpPr>
        <p:spPr>
          <a:xfrm>
            <a:off x="10414933" y="4535448"/>
            <a:ext cx="557808" cy="557808"/>
          </a:xfrm>
          <a:prstGeom prst="roundRect">
            <a:avLst>
              <a:gd name="adj" fmla="val 163927"/>
            </a:avLst>
          </a:prstGeom>
          <a:solidFill>
            <a:srgbClr val="AC9EF5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2215" y="4674870"/>
            <a:ext cx="223123" cy="2788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616785" y="5279112"/>
            <a:ext cx="2324338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Pricing: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7616785" y="5681186"/>
            <a:ext cx="6154103" cy="297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Freemium model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7616785" y="6043732"/>
            <a:ext cx="6154103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at $5.99/mo with advanced features like nutrition analysis, allergen filtering etc.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7616785" y="6703814"/>
            <a:ext cx="6154103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B2B/API licensing fees for appliance partners and health platforms/apps.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0322" y="526733"/>
            <a:ext cx="8473202" cy="359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u="sng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Go-to-Market Strategy: Partnerships, Marketing, Measurement</a:t>
            </a:r>
            <a:endParaRPr lang="en-US" sz="2400" b="1" u="sng" dirty="0"/>
          </a:p>
        </p:txBody>
      </p:sp>
      <p:sp>
        <p:nvSpPr>
          <p:cNvPr id="3" name="Shape 1"/>
          <p:cNvSpPr/>
          <p:nvPr/>
        </p:nvSpPr>
        <p:spPr>
          <a:xfrm>
            <a:off x="670322" y="1268849"/>
            <a:ext cx="13289756" cy="1896189"/>
          </a:xfrm>
          <a:prstGeom prst="roundRect">
            <a:avLst>
              <a:gd name="adj" fmla="val 1515"/>
            </a:avLst>
          </a:prstGeom>
          <a:noFill/>
          <a:ln w="22860">
            <a:solidFill>
              <a:srgbClr val="6569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3182" y="1291709"/>
            <a:ext cx="766167" cy="1850469"/>
          </a:xfrm>
          <a:prstGeom prst="roundRect">
            <a:avLst>
              <a:gd name="adj" fmla="val 170"/>
            </a:avLst>
          </a:prstGeom>
          <a:solidFill>
            <a:srgbClr val="4C505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17" y="2037397"/>
            <a:ext cx="287298" cy="3590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50802" y="1483162"/>
            <a:ext cx="239434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Partnerships: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650802" y="1897261"/>
            <a:ext cx="12286417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Appliance brands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50802" y="2270760"/>
            <a:ext cx="12286417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Meal kit/grocery services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50802" y="2644259"/>
            <a:ext cx="12286417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Health/fitness apps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70322" y="3356491"/>
            <a:ext cx="13289756" cy="2643188"/>
          </a:xfrm>
          <a:prstGeom prst="roundRect">
            <a:avLst>
              <a:gd name="adj" fmla="val 1087"/>
            </a:avLst>
          </a:prstGeom>
          <a:noFill/>
          <a:ln w="22860">
            <a:solidFill>
              <a:srgbClr val="6569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3182" y="3379351"/>
            <a:ext cx="766167" cy="2597468"/>
          </a:xfrm>
          <a:prstGeom prst="roundRect">
            <a:avLst>
              <a:gd name="adj" fmla="val 170"/>
            </a:avLst>
          </a:prstGeom>
          <a:solidFill>
            <a:srgbClr val="4C505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17" y="4498538"/>
            <a:ext cx="287298" cy="3590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50802" y="3570803"/>
            <a:ext cx="239434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Marketing: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1650802" y="3984903"/>
            <a:ext cx="12286417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marketing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50802" y="4358402"/>
            <a:ext cx="12286417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SEO/ASO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650802" y="4731901"/>
            <a:ext cx="12286417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Influencer campaigns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650802" y="5105400"/>
            <a:ext cx="12286417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Referral and loyalty programs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650802" y="5478899"/>
            <a:ext cx="12286417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Outreach and Industry Events for PR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70322" y="6191131"/>
            <a:ext cx="13289756" cy="1522690"/>
          </a:xfrm>
          <a:prstGeom prst="roundRect">
            <a:avLst>
              <a:gd name="adj" fmla="val 1887"/>
            </a:avLst>
          </a:prstGeom>
          <a:noFill/>
          <a:ln w="22860">
            <a:solidFill>
              <a:srgbClr val="65696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3182" y="6213991"/>
            <a:ext cx="766167" cy="1476970"/>
          </a:xfrm>
          <a:prstGeom prst="roundRect">
            <a:avLst>
              <a:gd name="adj" fmla="val 170"/>
            </a:avLst>
          </a:prstGeom>
          <a:solidFill>
            <a:srgbClr val="4C5052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17" y="6772870"/>
            <a:ext cx="287298" cy="3590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50802" y="6405443"/>
            <a:ext cx="2394347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Measurement:</a:t>
            </a:r>
            <a:endParaRPr lang="en-US" sz="1850" dirty="0"/>
          </a:p>
        </p:txBody>
      </p:sp>
      <p:sp>
        <p:nvSpPr>
          <p:cNvPr id="23" name="Text 18"/>
          <p:cNvSpPr/>
          <p:nvPr/>
        </p:nvSpPr>
        <p:spPr>
          <a:xfrm>
            <a:off x="1650802" y="6819543"/>
            <a:ext cx="12286417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acquisition, retention, conversion, referral, NPS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650802" y="7193042"/>
            <a:ext cx="12286417" cy="306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feedback loops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868</Words>
  <Application>Microsoft Office PowerPoint</Application>
  <PresentationFormat>Custom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DM Sans Medium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Vidhu Jha</cp:lastModifiedBy>
  <cp:revision>3</cp:revision>
  <dcterms:created xsi:type="dcterms:W3CDTF">2025-07-13T09:10:31Z</dcterms:created>
  <dcterms:modified xsi:type="dcterms:W3CDTF">2025-07-13T10:03:26Z</dcterms:modified>
</cp:coreProperties>
</file>