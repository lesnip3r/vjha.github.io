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aleway"/>
      <p:regular r:id="rId20"/>
      <p:bold r:id="rId21"/>
      <p:italic r:id="rId22"/>
      <p:boldItalic r:id="rId23"/>
    </p:embeddedFont>
    <p:embeddedFont>
      <p:font typeface="Lato"/>
      <p:regular r:id="rId24"/>
      <p:bold r:id="rId25"/>
      <p:italic r:id="rId26"/>
      <p:boldItalic r:id="rId27"/>
    </p:embeddedFont>
    <p:embeddedFont>
      <p:font typeface="Century Schoolbook"/>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0A6F30-3CF8-49AB-AB95-9526AFEB8292}">
  <a:tblStyle styleId="{620A6F30-3CF8-49AB-AB95-9526AFEB829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Lato-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CenturySchoolbook-regular.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Schoolbook-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Schoolbook-boldItalic.fntdata"/><Relationship Id="rId30" Type="http://schemas.openxmlformats.org/officeDocument/2006/relationships/font" Target="fonts/CenturySchoolbook-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9d9f4bb189_2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9d9f4bb189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889b38a527_0_2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889b38a527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efficient markets, financial prices should display a random walk pattern. More precisely, prices are assumed to follow a Markov process, which is a particular stochastic process independent of its history — the entire distribution of the future price relies on the current price only. The past is irrelevant.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889b38a527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889b38a52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efficient markets, financial prices should display a random walk pattern. More precisely, prices are assumed to follow a Markov process, which is a particular stochastic process independent of its history — the entire distribution of the future price relies on the current price only. The past is irrelevant.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889b38a527_0_1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889b38a52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9d9f4bb189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9d9f4bb1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889b38a527_0_2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889b38a527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889b38a527_0_2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889b38a52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889b38a527_0_4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889b38a527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889b38a527_0_4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889b38a52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889b38a527_0_3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889b38a527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889b38a527_0_3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889b38a527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889b38a527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889b38a5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9d9f4bb189_1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9d9f4bb18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889b38a527_0_5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889b38a527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45225" y="2762725"/>
            <a:ext cx="6736500" cy="115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p:txBody>
      </p:sp>
      <p:sp>
        <p:nvSpPr>
          <p:cNvPr id="11" name="Google Shape;11;p2"/>
          <p:cNvSpPr/>
          <p:nvPr/>
        </p:nvSpPr>
        <p:spPr>
          <a:xfrm>
            <a:off x="5938246" y="2533163"/>
            <a:ext cx="7218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6659861" y="2533163"/>
            <a:ext cx="7218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 y="2533163"/>
            <a:ext cx="7218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721425" y="2533163"/>
            <a:ext cx="52167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5"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ctrTitle"/>
          </p:nvPr>
        </p:nvSpPr>
        <p:spPr>
          <a:xfrm>
            <a:off x="685800" y="1583342"/>
            <a:ext cx="7772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18" name="Google Shape;18;p3"/>
          <p:cNvSpPr txBox="1"/>
          <p:nvPr>
            <p:ph idx="1" type="subTitle"/>
          </p:nvPr>
        </p:nvSpPr>
        <p:spPr>
          <a:xfrm>
            <a:off x="685800" y="2840053"/>
            <a:ext cx="77724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lt1"/>
              </a:buClr>
              <a:buSzPts val="2400"/>
              <a:buNone/>
              <a:defRPr b="1" sz="2400">
                <a:solidFill>
                  <a:schemeClr val="lt1"/>
                </a:solidFill>
              </a:defRPr>
            </a:lvl1pPr>
            <a:lvl2pPr lvl="1" rtl="0" algn="ctr">
              <a:spcBef>
                <a:spcPts val="0"/>
              </a:spcBef>
              <a:spcAft>
                <a:spcPts val="0"/>
              </a:spcAft>
              <a:buClr>
                <a:schemeClr val="lt1"/>
              </a:buClr>
              <a:buSzPts val="2400"/>
              <a:buNone/>
              <a:defRPr b="1">
                <a:solidFill>
                  <a:schemeClr val="lt1"/>
                </a:solidFill>
              </a:defRPr>
            </a:lvl2pPr>
            <a:lvl3pPr lvl="2" rtl="0" algn="ctr">
              <a:spcBef>
                <a:spcPts val="0"/>
              </a:spcBef>
              <a:spcAft>
                <a:spcPts val="0"/>
              </a:spcAft>
              <a:buClr>
                <a:schemeClr val="lt1"/>
              </a:buClr>
              <a:buSzPts val="2400"/>
              <a:buNone/>
              <a:defRPr b="1">
                <a:solidFill>
                  <a:schemeClr val="lt1"/>
                </a:solidFill>
              </a:defRPr>
            </a:lvl3pPr>
            <a:lvl4pPr lvl="3" rtl="0" algn="ctr">
              <a:spcBef>
                <a:spcPts val="0"/>
              </a:spcBef>
              <a:spcAft>
                <a:spcPts val="0"/>
              </a:spcAft>
              <a:buClr>
                <a:schemeClr val="lt1"/>
              </a:buClr>
              <a:buSzPts val="2400"/>
              <a:buNone/>
              <a:defRPr b="1" sz="2400">
                <a:solidFill>
                  <a:schemeClr val="lt1"/>
                </a:solidFill>
              </a:defRPr>
            </a:lvl4pPr>
            <a:lvl5pPr lvl="4" rtl="0" algn="ctr">
              <a:spcBef>
                <a:spcPts val="0"/>
              </a:spcBef>
              <a:spcAft>
                <a:spcPts val="0"/>
              </a:spcAft>
              <a:buClr>
                <a:schemeClr val="lt1"/>
              </a:buClr>
              <a:buSzPts val="2400"/>
              <a:buNone/>
              <a:defRPr b="1" sz="2400">
                <a:solidFill>
                  <a:schemeClr val="lt1"/>
                </a:solidFill>
              </a:defRPr>
            </a:lvl5pPr>
            <a:lvl6pPr lvl="5" rtl="0" algn="ctr">
              <a:spcBef>
                <a:spcPts val="0"/>
              </a:spcBef>
              <a:spcAft>
                <a:spcPts val="0"/>
              </a:spcAft>
              <a:buClr>
                <a:schemeClr val="lt1"/>
              </a:buClr>
              <a:buSzPts val="2400"/>
              <a:buNone/>
              <a:defRPr b="1" sz="2400">
                <a:solidFill>
                  <a:schemeClr val="lt1"/>
                </a:solidFill>
              </a:defRPr>
            </a:lvl6pPr>
            <a:lvl7pPr lvl="6" rtl="0" algn="ctr">
              <a:spcBef>
                <a:spcPts val="0"/>
              </a:spcBef>
              <a:spcAft>
                <a:spcPts val="0"/>
              </a:spcAft>
              <a:buClr>
                <a:schemeClr val="lt1"/>
              </a:buClr>
              <a:buSzPts val="2400"/>
              <a:buNone/>
              <a:defRPr b="1" sz="2400">
                <a:solidFill>
                  <a:schemeClr val="lt1"/>
                </a:solidFill>
              </a:defRPr>
            </a:lvl7pPr>
            <a:lvl8pPr lvl="7" rtl="0" algn="ctr">
              <a:spcBef>
                <a:spcPts val="0"/>
              </a:spcBef>
              <a:spcAft>
                <a:spcPts val="0"/>
              </a:spcAft>
              <a:buClr>
                <a:schemeClr val="lt1"/>
              </a:buClr>
              <a:buSzPts val="2400"/>
              <a:buNone/>
              <a:defRPr b="1" sz="2400">
                <a:solidFill>
                  <a:schemeClr val="lt1"/>
                </a:solidFill>
              </a:defRPr>
            </a:lvl8pPr>
            <a:lvl9pPr lvl="8" rtl="0" algn="ctr">
              <a:spcBef>
                <a:spcPts val="0"/>
              </a:spcBef>
              <a:spcAft>
                <a:spcPts val="0"/>
              </a:spcAft>
              <a:buClr>
                <a:schemeClr val="lt1"/>
              </a:buClr>
              <a:buSzPts val="2400"/>
              <a:buNone/>
              <a:defRPr b="1" sz="2400">
                <a:solidFill>
                  <a:schemeClr val="lt1"/>
                </a:solidFill>
              </a:defRPr>
            </a:lvl9pPr>
          </a:lstStyle>
          <a:p/>
        </p:txBody>
      </p:sp>
      <p:sp>
        <p:nvSpPr>
          <p:cNvPr id="19" name="Google Shape;19;p3"/>
          <p:cNvSpPr/>
          <p:nvPr/>
        </p:nvSpPr>
        <p:spPr>
          <a:xfrm>
            <a:off x="3047704" y="3992850"/>
            <a:ext cx="3047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6096271" y="3992850"/>
            <a:ext cx="3047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 y="3992850"/>
            <a:ext cx="3047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ph idx="12" type="sldNum"/>
          </p:nvPr>
        </p:nvSpPr>
        <p:spPr>
          <a:xfrm>
            <a:off x="-125" y="4830281"/>
            <a:ext cx="9144000" cy="3135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3" name="Shape 23"/>
        <p:cNvGrpSpPr/>
        <p:nvPr/>
      </p:nvGrpSpPr>
      <p:grpSpPr>
        <a:xfrm>
          <a:off x="0" y="0"/>
          <a:ext cx="0" cy="0"/>
          <a:chOff x="0" y="0"/>
          <a:chExt cx="0" cy="0"/>
        </a:xfrm>
      </p:grpSpPr>
      <p:sp>
        <p:nvSpPr>
          <p:cNvPr id="24" name="Google Shape;24;p4"/>
          <p:cNvSpPr txBox="1"/>
          <p:nvPr>
            <p:ph idx="1" type="body"/>
          </p:nvPr>
        </p:nvSpPr>
        <p:spPr>
          <a:xfrm>
            <a:off x="1710425" y="2161800"/>
            <a:ext cx="5723700" cy="819900"/>
          </a:xfrm>
          <a:prstGeom prst="rect">
            <a:avLst/>
          </a:prstGeom>
        </p:spPr>
        <p:txBody>
          <a:bodyPr anchorCtr="0" anchor="t" bIns="91425" lIns="91425" spcFirstLastPara="1" rIns="91425" wrap="square" tIns="91425">
            <a:noAutofit/>
          </a:bodyPr>
          <a:lstStyle>
            <a:lvl1pPr indent="-381000" lvl="0" marL="457200" rtl="0" algn="ctr">
              <a:spcBef>
                <a:spcPts val="600"/>
              </a:spcBef>
              <a:spcAft>
                <a:spcPts val="0"/>
              </a:spcAft>
              <a:buSzPts val="2400"/>
              <a:buChar char="▷"/>
              <a:defRPr i="1"/>
            </a:lvl1pPr>
            <a:lvl2pPr indent="-381000" lvl="1" marL="914400" rtl="0" algn="ctr">
              <a:spcBef>
                <a:spcPts val="0"/>
              </a:spcBef>
              <a:spcAft>
                <a:spcPts val="0"/>
              </a:spcAft>
              <a:buSzPts val="2400"/>
              <a:buChar char="○"/>
              <a:defRPr i="1"/>
            </a:lvl2pPr>
            <a:lvl3pPr indent="-381000" lvl="2" marL="1371600" rtl="0" algn="ctr">
              <a:spcBef>
                <a:spcPts val="0"/>
              </a:spcBef>
              <a:spcAft>
                <a:spcPts val="0"/>
              </a:spcAft>
              <a:buSzPts val="2400"/>
              <a:buChar char="■"/>
              <a:defRPr i="1"/>
            </a:lvl3pPr>
            <a:lvl4pPr indent="-381000" lvl="3" marL="1828800" rtl="0" algn="ctr">
              <a:spcBef>
                <a:spcPts val="0"/>
              </a:spcBef>
              <a:spcAft>
                <a:spcPts val="0"/>
              </a:spcAft>
              <a:buSzPts val="2400"/>
              <a:buChar char="●"/>
              <a:defRPr i="1"/>
            </a:lvl4pPr>
            <a:lvl5pPr indent="-381000" lvl="4" marL="2286000" rtl="0" algn="ctr">
              <a:spcBef>
                <a:spcPts val="0"/>
              </a:spcBef>
              <a:spcAft>
                <a:spcPts val="0"/>
              </a:spcAft>
              <a:buSzPts val="2400"/>
              <a:buChar char="○"/>
              <a:defRPr i="1"/>
            </a:lvl5pPr>
            <a:lvl6pPr indent="-381000" lvl="5" marL="2743200" rtl="0" algn="ctr">
              <a:spcBef>
                <a:spcPts val="0"/>
              </a:spcBef>
              <a:spcAft>
                <a:spcPts val="0"/>
              </a:spcAft>
              <a:buSzPts val="2400"/>
              <a:buChar char="■"/>
              <a:defRPr i="1"/>
            </a:lvl6pPr>
            <a:lvl7pPr indent="-381000" lvl="6" marL="3200400" rtl="0" algn="ctr">
              <a:spcBef>
                <a:spcPts val="0"/>
              </a:spcBef>
              <a:spcAft>
                <a:spcPts val="0"/>
              </a:spcAft>
              <a:buSzPts val="2400"/>
              <a:buChar char="●"/>
              <a:defRPr i="1"/>
            </a:lvl7pPr>
            <a:lvl8pPr indent="-381000" lvl="7" marL="3657600" rtl="0" algn="ctr">
              <a:spcBef>
                <a:spcPts val="0"/>
              </a:spcBef>
              <a:spcAft>
                <a:spcPts val="0"/>
              </a:spcAft>
              <a:buSzPts val="2400"/>
              <a:buChar char="○"/>
              <a:defRPr i="1"/>
            </a:lvl8pPr>
            <a:lvl9pPr indent="-381000" lvl="8" marL="4114800" algn="ctr">
              <a:spcBef>
                <a:spcPts val="0"/>
              </a:spcBef>
              <a:spcAft>
                <a:spcPts val="0"/>
              </a:spcAft>
              <a:buSzPts val="2400"/>
              <a:buChar char="■"/>
              <a:defRPr i="1"/>
            </a:lvl9pPr>
          </a:lstStyle>
          <a:p/>
        </p:txBody>
      </p:sp>
      <p:sp>
        <p:nvSpPr>
          <p:cNvPr id="25" name="Google Shape;25;p4"/>
          <p:cNvSpPr txBox="1"/>
          <p:nvPr/>
        </p:nvSpPr>
        <p:spPr>
          <a:xfrm>
            <a:off x="3593400" y="11814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600">
                <a:solidFill>
                  <a:schemeClr val="accent6"/>
                </a:solidFill>
              </a:rPr>
              <a:t>“</a:t>
            </a:r>
            <a:endParaRPr b="1" sz="9600">
              <a:solidFill>
                <a:schemeClr val="accent6"/>
              </a:solidFill>
            </a:endParaRPr>
          </a:p>
        </p:txBody>
      </p:sp>
      <p:sp>
        <p:nvSpPr>
          <p:cNvPr id="26" name="Google Shape;26;p4"/>
          <p:cNvSpPr/>
          <p:nvPr/>
        </p:nvSpPr>
        <p:spPr>
          <a:xfrm>
            <a:off x="5723283" y="1599675"/>
            <a:ext cx="17103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7434177" y="1599675"/>
            <a:ext cx="17103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0" y="1599675"/>
            <a:ext cx="17103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1710425" y="1599675"/>
            <a:ext cx="17103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txBox="1"/>
          <p:nvPr>
            <p:ph idx="12" type="sldNum"/>
          </p:nvPr>
        </p:nvSpPr>
        <p:spPr>
          <a:xfrm>
            <a:off x="-125" y="4830281"/>
            <a:ext cx="9144000" cy="3135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1" name="Shape 31"/>
        <p:cNvGrpSpPr/>
        <p:nvPr/>
      </p:nvGrpSpPr>
      <p:grpSpPr>
        <a:xfrm>
          <a:off x="0" y="0"/>
          <a:ext cx="0" cy="0"/>
          <a:chOff x="0" y="0"/>
          <a:chExt cx="0" cy="0"/>
        </a:xfrm>
      </p:grpSpPr>
      <p:sp>
        <p:nvSpPr>
          <p:cNvPr id="32" name="Google Shape;32;p5"/>
          <p:cNvSpPr txBox="1"/>
          <p:nvPr>
            <p:ph type="title"/>
          </p:nvPr>
        </p:nvSpPr>
        <p:spPr>
          <a:xfrm>
            <a:off x="893700" y="358388"/>
            <a:ext cx="6462600" cy="8574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3" name="Google Shape;33;p5"/>
          <p:cNvSpPr txBox="1"/>
          <p:nvPr>
            <p:ph idx="1" type="body"/>
          </p:nvPr>
        </p:nvSpPr>
        <p:spPr>
          <a:xfrm>
            <a:off x="893700" y="1373588"/>
            <a:ext cx="6462600" cy="35523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Clr>
                <a:schemeClr val="accent6"/>
              </a:buClr>
              <a:buSzPts val="1800"/>
              <a:buChar char="▷"/>
              <a:defRPr>
                <a:solidFill>
                  <a:schemeClr val="dk1"/>
                </a:solidFill>
              </a:defRPr>
            </a:lvl1pPr>
            <a:lvl2pPr indent="-381000" lvl="1" marL="914400">
              <a:spcBef>
                <a:spcPts val="0"/>
              </a:spcBef>
              <a:spcAft>
                <a:spcPts val="0"/>
              </a:spcAft>
              <a:buClr>
                <a:schemeClr val="dk1"/>
              </a:buClr>
              <a:buSzPts val="2400"/>
              <a:buChar char="○"/>
              <a:defRPr>
                <a:solidFill>
                  <a:schemeClr val="dk1"/>
                </a:solidFill>
              </a:defRPr>
            </a:lvl2pPr>
            <a:lvl3pPr indent="-381000" lvl="2" marL="1371600">
              <a:spcBef>
                <a:spcPts val="0"/>
              </a:spcBef>
              <a:spcAft>
                <a:spcPts val="0"/>
              </a:spcAft>
              <a:buClr>
                <a:schemeClr val="dk1"/>
              </a:buClr>
              <a:buSzPts val="2400"/>
              <a:buChar char="■"/>
              <a:defRPr>
                <a:solidFill>
                  <a:schemeClr val="dk1"/>
                </a:solidFill>
              </a:defRPr>
            </a:lvl3pPr>
            <a:lvl4pPr indent="-381000" lvl="3" marL="1828800">
              <a:spcBef>
                <a:spcPts val="0"/>
              </a:spcBef>
              <a:spcAft>
                <a:spcPts val="0"/>
              </a:spcAft>
              <a:buClr>
                <a:schemeClr val="dk1"/>
              </a:buClr>
              <a:buSzPts val="2400"/>
              <a:buChar char="●"/>
              <a:defRPr>
                <a:solidFill>
                  <a:schemeClr val="dk1"/>
                </a:solidFill>
              </a:defRPr>
            </a:lvl4pPr>
            <a:lvl5pPr indent="-381000" lvl="4" marL="2286000">
              <a:spcBef>
                <a:spcPts val="0"/>
              </a:spcBef>
              <a:spcAft>
                <a:spcPts val="0"/>
              </a:spcAft>
              <a:buClr>
                <a:schemeClr val="dk1"/>
              </a:buClr>
              <a:buSzPts val="2400"/>
              <a:buChar char="○"/>
              <a:defRPr>
                <a:solidFill>
                  <a:schemeClr val="dk1"/>
                </a:solidFill>
              </a:defRPr>
            </a:lvl5pPr>
            <a:lvl6pPr indent="-381000" lvl="5" marL="2743200">
              <a:spcBef>
                <a:spcPts val="0"/>
              </a:spcBef>
              <a:spcAft>
                <a:spcPts val="0"/>
              </a:spcAft>
              <a:buClr>
                <a:schemeClr val="dk1"/>
              </a:buClr>
              <a:buSzPts val="2400"/>
              <a:buChar char="■"/>
              <a:defRPr>
                <a:solidFill>
                  <a:schemeClr val="dk1"/>
                </a:solidFill>
              </a:defRPr>
            </a:lvl6pPr>
            <a:lvl7pPr indent="-381000" lvl="6" marL="3200400">
              <a:spcBef>
                <a:spcPts val="0"/>
              </a:spcBef>
              <a:spcAft>
                <a:spcPts val="0"/>
              </a:spcAft>
              <a:buClr>
                <a:schemeClr val="dk1"/>
              </a:buClr>
              <a:buSzPts val="2400"/>
              <a:buChar char="●"/>
              <a:defRPr>
                <a:solidFill>
                  <a:schemeClr val="dk1"/>
                </a:solidFill>
              </a:defRPr>
            </a:lvl7pPr>
            <a:lvl8pPr indent="-381000" lvl="7" marL="3657600">
              <a:spcBef>
                <a:spcPts val="0"/>
              </a:spcBef>
              <a:spcAft>
                <a:spcPts val="0"/>
              </a:spcAft>
              <a:buClr>
                <a:schemeClr val="dk1"/>
              </a:buClr>
              <a:buSzPts val="2400"/>
              <a:buChar char="○"/>
              <a:defRPr>
                <a:solidFill>
                  <a:schemeClr val="dk1"/>
                </a:solidFill>
              </a:defRPr>
            </a:lvl8pPr>
            <a:lvl9pPr indent="-381000" lvl="8" marL="4114800">
              <a:spcBef>
                <a:spcPts val="0"/>
              </a:spcBef>
              <a:spcAft>
                <a:spcPts val="0"/>
              </a:spcAft>
              <a:buClr>
                <a:schemeClr val="dk1"/>
              </a:buClr>
              <a:buSzPts val="2400"/>
              <a:buChar char="■"/>
              <a:defRPr>
                <a:solidFill>
                  <a:schemeClr val="dk1"/>
                </a:solidFill>
              </a:defRPr>
            </a:lvl9pPr>
          </a:lstStyle>
          <a:p/>
        </p:txBody>
      </p:sp>
      <p:sp>
        <p:nvSpPr>
          <p:cNvPr id="34" name="Google Shape;34;p5"/>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txBox="1"/>
          <p:nvPr>
            <p:ph type="title"/>
          </p:nvPr>
        </p:nvSpPr>
        <p:spPr>
          <a:xfrm>
            <a:off x="893700" y="358388"/>
            <a:ext cx="6462600" cy="8574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5" name="Google Shape;45;p6"/>
          <p:cNvSpPr txBox="1"/>
          <p:nvPr>
            <p:ph idx="1" type="body"/>
          </p:nvPr>
        </p:nvSpPr>
        <p:spPr>
          <a:xfrm>
            <a:off x="893625" y="1200150"/>
            <a:ext cx="3136800" cy="372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46" name="Google Shape;46;p6"/>
          <p:cNvSpPr txBox="1"/>
          <p:nvPr>
            <p:ph idx="2" type="body"/>
          </p:nvPr>
        </p:nvSpPr>
        <p:spPr>
          <a:xfrm>
            <a:off x="4219456" y="1200150"/>
            <a:ext cx="3136800" cy="372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47" name="Google Shape;47;p6"/>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8" name="Shape 48"/>
        <p:cNvGrpSpPr/>
        <p:nvPr/>
      </p:nvGrpSpPr>
      <p:grpSpPr>
        <a:xfrm>
          <a:off x="0" y="0"/>
          <a:ext cx="0" cy="0"/>
          <a:chOff x="0" y="0"/>
          <a:chExt cx="0" cy="0"/>
        </a:xfrm>
      </p:grpSpPr>
      <p:sp>
        <p:nvSpPr>
          <p:cNvPr id="49" name="Google Shape;49;p7"/>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ph type="title"/>
          </p:nvPr>
        </p:nvSpPr>
        <p:spPr>
          <a:xfrm>
            <a:off x="893700" y="358388"/>
            <a:ext cx="64626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4" name="Google Shape;54;p7"/>
          <p:cNvSpPr txBox="1"/>
          <p:nvPr>
            <p:ph idx="1" type="body"/>
          </p:nvPr>
        </p:nvSpPr>
        <p:spPr>
          <a:xfrm>
            <a:off x="893700" y="1200150"/>
            <a:ext cx="2371200" cy="3725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5" name="Google Shape;55;p7"/>
          <p:cNvSpPr txBox="1"/>
          <p:nvPr>
            <p:ph idx="2" type="body"/>
          </p:nvPr>
        </p:nvSpPr>
        <p:spPr>
          <a:xfrm>
            <a:off x="3386404" y="1200150"/>
            <a:ext cx="2371200" cy="3725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6" name="Google Shape;56;p7"/>
          <p:cNvSpPr txBox="1"/>
          <p:nvPr>
            <p:ph idx="3" type="body"/>
          </p:nvPr>
        </p:nvSpPr>
        <p:spPr>
          <a:xfrm>
            <a:off x="5879107" y="1200150"/>
            <a:ext cx="2371200" cy="3725700"/>
          </a:xfrm>
          <a:prstGeom prst="rect">
            <a:avLst/>
          </a:prstGeom>
        </p:spPr>
        <p:txBody>
          <a:bodyPr anchorCtr="0" anchor="t" bIns="91425" lIns="91425" spcFirstLastPara="1" rIns="91425" wrap="square" tIns="91425">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57" name="Google Shape;57;p7"/>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8"/>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8"/>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txBox="1"/>
          <p:nvPr>
            <p:ph type="title"/>
          </p:nvPr>
        </p:nvSpPr>
        <p:spPr>
          <a:xfrm>
            <a:off x="893700" y="358388"/>
            <a:ext cx="6462600" cy="8574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4" name="Google Shape;64;p8"/>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9"/>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9"/>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9"/>
          <p:cNvSpPr txBox="1"/>
          <p:nvPr>
            <p:ph idx="1" type="body"/>
          </p:nvPr>
        </p:nvSpPr>
        <p:spPr>
          <a:xfrm>
            <a:off x="893700" y="4649963"/>
            <a:ext cx="6462600" cy="350700"/>
          </a:xfrm>
          <a:prstGeom prst="rect">
            <a:avLst/>
          </a:prstGeom>
        </p:spPr>
        <p:txBody>
          <a:bodyPr anchorCtr="0" anchor="b" bIns="91425" lIns="91425" spcFirstLastPara="1" rIns="91425" wrap="square" tIns="91425">
            <a:noAutofit/>
          </a:bodyPr>
          <a:lstStyle>
            <a:lvl1pPr indent="-228600" lvl="0" marL="457200">
              <a:spcBef>
                <a:spcPts val="360"/>
              </a:spcBef>
              <a:spcAft>
                <a:spcPts val="0"/>
              </a:spcAft>
              <a:buClr>
                <a:schemeClr val="dk2"/>
              </a:buClr>
              <a:buSzPts val="1400"/>
              <a:buNone/>
              <a:defRPr sz="1400">
                <a:solidFill>
                  <a:schemeClr val="dk2"/>
                </a:solidFill>
              </a:defRPr>
            </a:lvl1pPr>
          </a:lstStyle>
          <a:p/>
        </p:txBody>
      </p:sp>
      <p:sp>
        <p:nvSpPr>
          <p:cNvPr id="71" name="Google Shape;71;p9"/>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10"/>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0"/>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0"/>
          <p:cNvSpPr/>
          <p:nvPr/>
        </p:nvSpPr>
        <p:spPr>
          <a:xfrm>
            <a:off x="0" y="5066325"/>
            <a:ext cx="8937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
          <p:cNvSpPr/>
          <p:nvPr/>
        </p:nvSpPr>
        <p:spPr>
          <a:xfrm>
            <a:off x="893710" y="5066325"/>
            <a:ext cx="6462600" cy="7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 background">
  <p:cSld name="BLANK_1">
    <p:bg>
      <p:bgPr>
        <a:solidFill>
          <a:schemeClr val="accent1"/>
        </a:solidFill>
      </p:bgPr>
    </p:bg>
    <p:spTree>
      <p:nvGrpSpPr>
        <p:cNvPr id="78" name="Shape 78"/>
        <p:cNvGrpSpPr/>
        <p:nvPr/>
      </p:nvGrpSpPr>
      <p:grpSpPr>
        <a:xfrm>
          <a:off x="0" y="0"/>
          <a:ext cx="0" cy="0"/>
          <a:chOff x="0" y="0"/>
          <a:chExt cx="0" cy="0"/>
        </a:xfrm>
      </p:grpSpPr>
      <p:sp>
        <p:nvSpPr>
          <p:cNvPr id="79" name="Google Shape;79;p11"/>
          <p:cNvSpPr/>
          <p:nvPr/>
        </p:nvSpPr>
        <p:spPr>
          <a:xfrm>
            <a:off x="7356366" y="5066325"/>
            <a:ext cx="893700" cy="7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8250312" y="5066325"/>
            <a:ext cx="893700" cy="77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p:nvPr/>
        </p:nvSpPr>
        <p:spPr>
          <a:xfrm>
            <a:off x="0" y="5066325"/>
            <a:ext cx="893700" cy="7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1"/>
          <p:cNvSpPr/>
          <p:nvPr/>
        </p:nvSpPr>
        <p:spPr>
          <a:xfrm>
            <a:off x="893710" y="5066325"/>
            <a:ext cx="6462600" cy="77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1"/>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93700" y="358388"/>
            <a:ext cx="64626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p:txBody>
      </p:sp>
      <p:sp>
        <p:nvSpPr>
          <p:cNvPr id="7" name="Google Shape;7;p1"/>
          <p:cNvSpPr txBox="1"/>
          <p:nvPr>
            <p:ph idx="1" type="body"/>
          </p:nvPr>
        </p:nvSpPr>
        <p:spPr>
          <a:xfrm>
            <a:off x="893700" y="1373588"/>
            <a:ext cx="6462600" cy="35523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indent="-381000" lvl="1" marL="9144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indent="-381000" lvl="2" marL="13716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indent="-381000" lvl="3" marL="18288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indent="-381000" lvl="4" marL="2286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indent="-381000" lvl="5" marL="27432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indent="-381000" lvl="6" marL="32004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indent="-381000" lvl="7" marL="36576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indent="-381000" lvl="8" marL="41148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p:txBody>
      </p:sp>
      <p:sp>
        <p:nvSpPr>
          <p:cNvPr id="8" name="Google Shape;8;p1"/>
          <p:cNvSpPr txBox="1"/>
          <p:nvPr>
            <p:ph idx="12" type="sldNum"/>
          </p:nvPr>
        </p:nvSpPr>
        <p:spPr>
          <a:xfrm>
            <a:off x="8480575" y="4696933"/>
            <a:ext cx="548700" cy="313500"/>
          </a:xfrm>
          <a:prstGeom prst="rect">
            <a:avLst/>
          </a:prstGeom>
          <a:noFill/>
          <a:ln>
            <a:noFill/>
          </a:ln>
        </p:spPr>
        <p:txBody>
          <a:bodyPr anchorCtr="0" anchor="t" bIns="91425" lIns="91425" spcFirstLastPara="1" rIns="91425" wrap="square" tIns="91425">
            <a:noAutofit/>
          </a:bodyPr>
          <a:lstStyle>
            <a:lvl1pPr lvl="0" algn="r">
              <a:buNone/>
              <a:defRPr sz="1300">
                <a:solidFill>
                  <a:schemeClr val="accent6"/>
                </a:solidFill>
                <a:latin typeface="Lato"/>
                <a:ea typeface="Lato"/>
                <a:cs typeface="Lato"/>
                <a:sym typeface="Lato"/>
              </a:defRPr>
            </a:lvl1pPr>
            <a:lvl2pPr lvl="1" algn="r">
              <a:buNone/>
              <a:defRPr sz="1300">
                <a:solidFill>
                  <a:schemeClr val="accent6"/>
                </a:solidFill>
                <a:latin typeface="Lato"/>
                <a:ea typeface="Lato"/>
                <a:cs typeface="Lato"/>
                <a:sym typeface="Lato"/>
              </a:defRPr>
            </a:lvl2pPr>
            <a:lvl3pPr lvl="2" algn="r">
              <a:buNone/>
              <a:defRPr sz="1300">
                <a:solidFill>
                  <a:schemeClr val="accent6"/>
                </a:solidFill>
                <a:latin typeface="Lato"/>
                <a:ea typeface="Lato"/>
                <a:cs typeface="Lato"/>
                <a:sym typeface="Lato"/>
              </a:defRPr>
            </a:lvl3pPr>
            <a:lvl4pPr lvl="3" algn="r">
              <a:buNone/>
              <a:defRPr sz="1300">
                <a:solidFill>
                  <a:schemeClr val="accent6"/>
                </a:solidFill>
                <a:latin typeface="Lato"/>
                <a:ea typeface="Lato"/>
                <a:cs typeface="Lato"/>
                <a:sym typeface="Lato"/>
              </a:defRPr>
            </a:lvl4pPr>
            <a:lvl5pPr lvl="4" algn="r">
              <a:buNone/>
              <a:defRPr sz="1300">
                <a:solidFill>
                  <a:schemeClr val="accent6"/>
                </a:solidFill>
                <a:latin typeface="Lato"/>
                <a:ea typeface="Lato"/>
                <a:cs typeface="Lato"/>
                <a:sym typeface="Lato"/>
              </a:defRPr>
            </a:lvl5pPr>
            <a:lvl6pPr lvl="5" algn="r">
              <a:buNone/>
              <a:defRPr sz="1300">
                <a:solidFill>
                  <a:schemeClr val="accent6"/>
                </a:solidFill>
                <a:latin typeface="Lato"/>
                <a:ea typeface="Lato"/>
                <a:cs typeface="Lato"/>
                <a:sym typeface="Lato"/>
              </a:defRPr>
            </a:lvl6pPr>
            <a:lvl7pPr lvl="6" algn="r">
              <a:buNone/>
              <a:defRPr sz="1300">
                <a:solidFill>
                  <a:schemeClr val="accent6"/>
                </a:solidFill>
                <a:latin typeface="Lato"/>
                <a:ea typeface="Lato"/>
                <a:cs typeface="Lato"/>
                <a:sym typeface="Lato"/>
              </a:defRPr>
            </a:lvl7pPr>
            <a:lvl8pPr lvl="7" algn="r">
              <a:buNone/>
              <a:defRPr sz="1300">
                <a:solidFill>
                  <a:schemeClr val="accent6"/>
                </a:solidFill>
                <a:latin typeface="Lato"/>
                <a:ea typeface="Lato"/>
                <a:cs typeface="Lato"/>
                <a:sym typeface="Lato"/>
              </a:defRPr>
            </a:lvl8pPr>
            <a:lvl9pPr lvl="8" algn="r">
              <a:buNone/>
              <a:defRPr sz="1300">
                <a:solidFill>
                  <a:schemeClr val="accent6"/>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2"/>
          <p:cNvSpPr txBox="1"/>
          <p:nvPr>
            <p:ph type="ctrTitle"/>
          </p:nvPr>
        </p:nvSpPr>
        <p:spPr>
          <a:xfrm>
            <a:off x="645225" y="2762725"/>
            <a:ext cx="7691100" cy="7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000000"/>
                </a:solidFill>
                <a:latin typeface="Lato"/>
                <a:ea typeface="Lato"/>
                <a:cs typeface="Lato"/>
                <a:sym typeface="Lato"/>
              </a:rPr>
              <a:t>Vidhu Jha </a:t>
            </a:r>
            <a:r>
              <a:rPr b="1" lang="en" sz="1700">
                <a:solidFill>
                  <a:srgbClr val="000000"/>
                </a:solidFill>
                <a:latin typeface="Lato"/>
                <a:ea typeface="Lato"/>
                <a:cs typeface="Lato"/>
                <a:sym typeface="Lato"/>
              </a:rPr>
              <a:t>| 19MT10048 </a:t>
            </a:r>
            <a:endParaRPr b="1" sz="1700">
              <a:solidFill>
                <a:srgbClr val="000000"/>
              </a:solidFill>
              <a:latin typeface="Lato"/>
              <a:ea typeface="Lato"/>
              <a:cs typeface="Lato"/>
              <a:sym typeface="Lato"/>
            </a:endParaRPr>
          </a:p>
          <a:p>
            <a:pPr indent="0" lvl="0" marL="0" rtl="0" algn="l">
              <a:spcBef>
                <a:spcPts val="0"/>
              </a:spcBef>
              <a:spcAft>
                <a:spcPts val="0"/>
              </a:spcAft>
              <a:buNone/>
            </a:pPr>
            <a:r>
              <a:rPr b="1" lang="en" sz="1700">
                <a:solidFill>
                  <a:srgbClr val="000000"/>
                </a:solidFill>
                <a:latin typeface="Lato"/>
                <a:ea typeface="Lato"/>
                <a:cs typeface="Lato"/>
                <a:sym typeface="Lato"/>
              </a:rPr>
              <a:t>Bachelor in Technology | </a:t>
            </a:r>
            <a:r>
              <a:rPr b="1" lang="en" sz="1700">
                <a:solidFill>
                  <a:srgbClr val="000000"/>
                </a:solidFill>
                <a:latin typeface="Lato"/>
                <a:ea typeface="Lato"/>
                <a:cs typeface="Lato"/>
                <a:sym typeface="Lato"/>
              </a:rPr>
              <a:t>Metallurgical and Materials Engineering </a:t>
            </a:r>
            <a:endParaRPr b="1" sz="1700">
              <a:solidFill>
                <a:srgbClr val="000000"/>
              </a:solidFill>
              <a:latin typeface="Lato"/>
              <a:ea typeface="Lato"/>
              <a:cs typeface="Lato"/>
              <a:sym typeface="Lato"/>
            </a:endParaRPr>
          </a:p>
        </p:txBody>
      </p:sp>
      <p:sp>
        <p:nvSpPr>
          <p:cNvPr id="89" name="Google Shape;89;p12"/>
          <p:cNvSpPr txBox="1"/>
          <p:nvPr/>
        </p:nvSpPr>
        <p:spPr>
          <a:xfrm>
            <a:off x="645225" y="544875"/>
            <a:ext cx="7974600" cy="17547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1200"/>
              </a:spcAft>
              <a:buNone/>
            </a:pPr>
            <a:r>
              <a:rPr b="1" lang="en" sz="3400">
                <a:latin typeface="Lato"/>
                <a:ea typeface="Lato"/>
                <a:cs typeface="Lato"/>
                <a:sym typeface="Lato"/>
              </a:rPr>
              <a:t>Prediction of overall sentiment and engagement of social media posts with respect to Electric Vehicles</a:t>
            </a:r>
            <a:endParaRPr sz="3400">
              <a:latin typeface="Lato"/>
              <a:ea typeface="Lato"/>
              <a:cs typeface="Lato"/>
              <a:sym typeface="Lato"/>
            </a:endParaRPr>
          </a:p>
        </p:txBody>
      </p:sp>
      <p:sp>
        <p:nvSpPr>
          <p:cNvPr id="90" name="Google Shape;90;p12"/>
          <p:cNvSpPr txBox="1"/>
          <p:nvPr/>
        </p:nvSpPr>
        <p:spPr>
          <a:xfrm>
            <a:off x="784600" y="3552625"/>
            <a:ext cx="7889700" cy="1369800"/>
          </a:xfrm>
          <a:prstGeom prst="rect">
            <a:avLst/>
          </a:prstGeom>
          <a:noFill/>
          <a:ln>
            <a:noFill/>
          </a:ln>
        </p:spPr>
        <p:txBody>
          <a:bodyPr anchorCtr="0" anchor="t" bIns="91425" lIns="91425" spcFirstLastPara="1" rIns="91425" wrap="square" tIns="91425">
            <a:spAutoFit/>
          </a:bodyPr>
          <a:lstStyle/>
          <a:p>
            <a:pPr indent="0" lvl="0" marL="0" rtl="0" algn="ctr">
              <a:spcBef>
                <a:spcPts val="1200"/>
              </a:spcBef>
              <a:spcAft>
                <a:spcPts val="0"/>
              </a:spcAft>
              <a:buNone/>
            </a:pPr>
            <a:r>
              <a:rPr b="1" lang="en" sz="1900">
                <a:latin typeface="Lato"/>
                <a:ea typeface="Lato"/>
                <a:cs typeface="Lato"/>
                <a:sym typeface="Lato"/>
              </a:rPr>
              <a:t>Prof. Swagato Chatterjee</a:t>
            </a:r>
            <a:endParaRPr sz="1900">
              <a:latin typeface="Lato"/>
              <a:ea typeface="Lato"/>
              <a:cs typeface="Lato"/>
              <a:sym typeface="Lato"/>
            </a:endParaRPr>
          </a:p>
          <a:p>
            <a:pPr indent="0" lvl="0" marL="0" rtl="0" algn="ctr">
              <a:spcBef>
                <a:spcPts val="1200"/>
              </a:spcBef>
              <a:spcAft>
                <a:spcPts val="0"/>
              </a:spcAft>
              <a:buNone/>
            </a:pPr>
            <a:r>
              <a:rPr b="1" lang="en" sz="1900">
                <a:latin typeface="Lato"/>
                <a:ea typeface="Lato"/>
                <a:cs typeface="Lato"/>
                <a:sym typeface="Lato"/>
              </a:rPr>
              <a:t> Vinod Gupta School of Management (VGSoM)</a:t>
            </a:r>
            <a:endParaRPr sz="1900">
              <a:latin typeface="Lato"/>
              <a:ea typeface="Lato"/>
              <a:cs typeface="Lato"/>
              <a:sym typeface="Lato"/>
            </a:endParaRPr>
          </a:p>
          <a:p>
            <a:pPr indent="0" lvl="0" marL="0" rtl="0" algn="ctr">
              <a:spcBef>
                <a:spcPts val="1200"/>
              </a:spcBef>
              <a:spcAft>
                <a:spcPts val="1200"/>
              </a:spcAft>
              <a:buNone/>
            </a:pPr>
            <a:r>
              <a:rPr b="1" lang="en" sz="1900">
                <a:latin typeface="Lato"/>
                <a:ea typeface="Lato"/>
                <a:cs typeface="Lato"/>
                <a:sym typeface="Lato"/>
              </a:rPr>
              <a:t>Indian Institute of Technology Kharagpur</a:t>
            </a:r>
            <a:endParaRPr sz="1900">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ph type="title"/>
          </p:nvPr>
        </p:nvSpPr>
        <p:spPr>
          <a:xfrm>
            <a:off x="316450" y="79338"/>
            <a:ext cx="76281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Motivation</a:t>
            </a:r>
            <a:endParaRPr>
              <a:solidFill>
                <a:srgbClr val="000000"/>
              </a:solidFill>
            </a:endParaRPr>
          </a:p>
        </p:txBody>
      </p:sp>
      <p:sp>
        <p:nvSpPr>
          <p:cNvPr id="96" name="Google Shape;96;p13"/>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 name="Google Shape;97;p13"/>
          <p:cNvSpPr/>
          <p:nvPr/>
        </p:nvSpPr>
        <p:spPr>
          <a:xfrm>
            <a:off x="642925" y="991650"/>
            <a:ext cx="2811600" cy="34326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3"/>
                </a:solidFill>
                <a:latin typeface="Lato"/>
                <a:ea typeface="Lato"/>
                <a:cs typeface="Lato"/>
                <a:sym typeface="Lato"/>
              </a:rPr>
              <a:t>Problem</a:t>
            </a:r>
            <a:endParaRPr sz="900">
              <a:latin typeface="Lato"/>
              <a:ea typeface="Lato"/>
              <a:cs typeface="Lato"/>
              <a:sym typeface="Lato"/>
            </a:endParaRPr>
          </a:p>
          <a:p>
            <a:pPr indent="0" lvl="0" marL="0" rtl="0" algn="l">
              <a:lnSpc>
                <a:spcPct val="115000"/>
              </a:lnSpc>
              <a:spcBef>
                <a:spcPts val="1000"/>
              </a:spcBef>
              <a:spcAft>
                <a:spcPts val="0"/>
              </a:spcAft>
              <a:buNone/>
            </a:pPr>
            <a:r>
              <a:rPr lang="en" sz="1300">
                <a:latin typeface="Lato"/>
                <a:ea typeface="Lato"/>
                <a:cs typeface="Lato"/>
                <a:sym typeface="Lato"/>
              </a:rPr>
              <a:t>Electric Vehicles (EVs) are a rapidly growing component of the automotive industry.</a:t>
            </a:r>
            <a:endParaRPr sz="1300">
              <a:latin typeface="Lato"/>
              <a:ea typeface="Lato"/>
              <a:cs typeface="Lato"/>
              <a:sym typeface="Lato"/>
            </a:endParaRPr>
          </a:p>
          <a:p>
            <a:pPr indent="0" lvl="0" marL="0" rtl="0" algn="l">
              <a:lnSpc>
                <a:spcPct val="115000"/>
              </a:lnSpc>
              <a:spcBef>
                <a:spcPts val="1000"/>
              </a:spcBef>
              <a:spcAft>
                <a:spcPts val="0"/>
              </a:spcAft>
              <a:buNone/>
            </a:pPr>
            <a:r>
              <a:t/>
            </a:r>
            <a:endParaRPr sz="1300">
              <a:latin typeface="Lato"/>
              <a:ea typeface="Lato"/>
              <a:cs typeface="Lato"/>
              <a:sym typeface="Lato"/>
            </a:endParaRPr>
          </a:p>
          <a:p>
            <a:pPr indent="0" lvl="0" marL="0" rtl="0" algn="l">
              <a:spcBef>
                <a:spcPts val="0"/>
              </a:spcBef>
              <a:spcAft>
                <a:spcPts val="0"/>
              </a:spcAft>
              <a:buNone/>
            </a:pPr>
            <a:r>
              <a:rPr lang="en" sz="1300">
                <a:latin typeface="Lato"/>
                <a:ea typeface="Lato"/>
                <a:cs typeface="Lato"/>
                <a:sym typeface="Lato"/>
              </a:rPr>
              <a:t>However, it is almost impossible to create exact predictions about the EV industry. We want to probe the overall sentiment regarding EVs, and predict the engagement of social media posts with respect to them.</a:t>
            </a:r>
            <a:endParaRPr sz="1300">
              <a:latin typeface="Lato"/>
              <a:ea typeface="Lato"/>
              <a:cs typeface="Lato"/>
              <a:sym typeface="Lato"/>
            </a:endParaRPr>
          </a:p>
          <a:p>
            <a:pPr indent="0" lvl="0" marL="0" rtl="0" algn="l">
              <a:spcBef>
                <a:spcPts val="0"/>
              </a:spcBef>
              <a:spcAft>
                <a:spcPts val="0"/>
              </a:spcAft>
              <a:buNone/>
            </a:pPr>
            <a:r>
              <a:t/>
            </a:r>
            <a:endParaRPr sz="1500">
              <a:latin typeface="Lato"/>
              <a:ea typeface="Lato"/>
              <a:cs typeface="Lato"/>
              <a:sym typeface="Lato"/>
            </a:endParaRPr>
          </a:p>
        </p:txBody>
      </p:sp>
      <p:sp>
        <p:nvSpPr>
          <p:cNvPr id="98" name="Google Shape;98;p13"/>
          <p:cNvSpPr/>
          <p:nvPr/>
        </p:nvSpPr>
        <p:spPr>
          <a:xfrm>
            <a:off x="5363850" y="991650"/>
            <a:ext cx="2950800" cy="3432600"/>
          </a:xfrm>
          <a:prstGeom prst="roundRect">
            <a:avLst>
              <a:gd fmla="val 16667" name="adj"/>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6AA84F"/>
                </a:solidFill>
                <a:latin typeface="Lato"/>
                <a:ea typeface="Lato"/>
                <a:cs typeface="Lato"/>
                <a:sym typeface="Lato"/>
              </a:rPr>
              <a:t>Solution</a:t>
            </a:r>
            <a:endParaRPr sz="900">
              <a:latin typeface="Lato"/>
              <a:ea typeface="Lato"/>
              <a:cs typeface="Lato"/>
              <a:sym typeface="Lato"/>
            </a:endParaRPr>
          </a:p>
          <a:p>
            <a:pPr indent="0" lvl="0" marL="0" rtl="0" algn="l">
              <a:lnSpc>
                <a:spcPct val="115000"/>
              </a:lnSpc>
              <a:spcBef>
                <a:spcPts val="1000"/>
              </a:spcBef>
              <a:spcAft>
                <a:spcPts val="0"/>
              </a:spcAft>
              <a:buNone/>
            </a:pPr>
            <a:r>
              <a:rPr lang="en" sz="1300">
                <a:latin typeface="Lato"/>
                <a:ea typeface="Lato"/>
                <a:cs typeface="Lato"/>
                <a:sym typeface="Lato"/>
              </a:rPr>
              <a:t>We use a token-wise and document-wise sentiment analysis using both unsupervised and supervised models applied to data set scraped from Facebook.</a:t>
            </a:r>
            <a:endParaRPr sz="1300">
              <a:latin typeface="Lato"/>
              <a:ea typeface="Lato"/>
              <a:cs typeface="Lato"/>
              <a:sym typeface="Lato"/>
            </a:endParaRPr>
          </a:p>
          <a:p>
            <a:pPr indent="0" lvl="0" marL="0" rtl="0" algn="l">
              <a:lnSpc>
                <a:spcPct val="115000"/>
              </a:lnSpc>
              <a:spcBef>
                <a:spcPts val="1000"/>
              </a:spcBef>
              <a:spcAft>
                <a:spcPts val="0"/>
              </a:spcAft>
              <a:buNone/>
            </a:pPr>
            <a:r>
              <a:rPr lang="en" sz="1300">
                <a:latin typeface="Lato"/>
                <a:ea typeface="Lato"/>
                <a:cs typeface="Lato"/>
                <a:sym typeface="Lato"/>
              </a:rPr>
              <a:t>At last we perform an exploratory visualization of sentiment and topics news media and consumers frequently discuss.</a:t>
            </a:r>
            <a:endParaRPr sz="1300">
              <a:latin typeface="Lato"/>
              <a:ea typeface="Lato"/>
              <a:cs typeface="Lato"/>
              <a:sym typeface="Lato"/>
            </a:endParaRPr>
          </a:p>
          <a:p>
            <a:pPr indent="0" lvl="0" marL="0" rtl="0" algn="l">
              <a:spcBef>
                <a:spcPts val="0"/>
              </a:spcBef>
              <a:spcAft>
                <a:spcPts val="1000"/>
              </a:spcAft>
              <a:buNone/>
            </a:pPr>
            <a:r>
              <a:t/>
            </a:r>
            <a:endParaRPr sz="1300">
              <a:latin typeface="Lato"/>
              <a:ea typeface="Lato"/>
              <a:cs typeface="Lato"/>
              <a:sym typeface="Lato"/>
            </a:endParaRPr>
          </a:p>
        </p:txBody>
      </p:sp>
      <p:pic>
        <p:nvPicPr>
          <p:cNvPr id="99" name="Google Shape;99;p13"/>
          <p:cNvPicPr preferRelativeResize="0"/>
          <p:nvPr/>
        </p:nvPicPr>
        <p:blipFill>
          <a:blip r:embed="rId3">
            <a:alphaModFix/>
          </a:blip>
          <a:stretch>
            <a:fillRect/>
          </a:stretch>
        </p:blipFill>
        <p:spPr>
          <a:xfrm>
            <a:off x="3956321" y="2190396"/>
            <a:ext cx="905724" cy="10351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p:nvPr/>
        </p:nvSpPr>
        <p:spPr>
          <a:xfrm>
            <a:off x="5389138" y="936750"/>
            <a:ext cx="3345600" cy="16878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rPr lang="en">
                <a:latin typeface="Lato"/>
                <a:ea typeface="Lato"/>
                <a:cs typeface="Lato"/>
                <a:sym typeface="Lato"/>
              </a:rPr>
              <a:t>Latent Dirichlet allocation (LDA) is performed to infer the various topics of electric vehicles as it provides a better insight into topics, as well as better accuracy than others possible methods </a:t>
            </a:r>
            <a:endParaRPr>
              <a:latin typeface="Lato"/>
              <a:ea typeface="Lato"/>
              <a:cs typeface="Lato"/>
              <a:sym typeface="Lato"/>
            </a:endParaRPr>
          </a:p>
        </p:txBody>
      </p:sp>
      <p:sp>
        <p:nvSpPr>
          <p:cNvPr id="105" name="Google Shape;105;p14"/>
          <p:cNvSpPr txBox="1"/>
          <p:nvPr>
            <p:ph type="title"/>
          </p:nvPr>
        </p:nvSpPr>
        <p:spPr>
          <a:xfrm>
            <a:off x="316450" y="79338"/>
            <a:ext cx="76281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Prerequisites</a:t>
            </a:r>
            <a:endParaRPr>
              <a:solidFill>
                <a:srgbClr val="000000"/>
              </a:solidFill>
            </a:endParaRPr>
          </a:p>
        </p:txBody>
      </p:sp>
      <p:sp>
        <p:nvSpPr>
          <p:cNvPr id="106" name="Google Shape;106;p14"/>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107" name="Google Shape;107;p14"/>
          <p:cNvGrpSpPr/>
          <p:nvPr/>
        </p:nvGrpSpPr>
        <p:grpSpPr>
          <a:xfrm>
            <a:off x="409263" y="989850"/>
            <a:ext cx="4326300" cy="1514700"/>
            <a:chOff x="414100" y="1176900"/>
            <a:chExt cx="4326300" cy="1514700"/>
          </a:xfrm>
        </p:grpSpPr>
        <p:sp>
          <p:nvSpPr>
            <p:cNvPr id="108" name="Google Shape;108;p14"/>
            <p:cNvSpPr/>
            <p:nvPr/>
          </p:nvSpPr>
          <p:spPr>
            <a:xfrm>
              <a:off x="414100" y="1176900"/>
              <a:ext cx="4326300" cy="15147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txBox="1"/>
            <p:nvPr/>
          </p:nvSpPr>
          <p:spPr>
            <a:xfrm>
              <a:off x="610250" y="1231400"/>
              <a:ext cx="2582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Lato"/>
                  <a:ea typeface="Lato"/>
                  <a:cs typeface="Lato"/>
                  <a:sym typeface="Lato"/>
                </a:rPr>
                <a:t>Topic Modelling</a:t>
              </a:r>
              <a:endParaRPr b="1" sz="1900">
                <a:latin typeface="Lato"/>
                <a:ea typeface="Lato"/>
                <a:cs typeface="Lato"/>
                <a:sym typeface="Lato"/>
              </a:endParaRPr>
            </a:p>
          </p:txBody>
        </p:sp>
        <p:sp>
          <p:nvSpPr>
            <p:cNvPr id="110" name="Google Shape;110;p14"/>
            <p:cNvSpPr txBox="1"/>
            <p:nvPr/>
          </p:nvSpPr>
          <p:spPr>
            <a:xfrm>
              <a:off x="610250" y="1708400"/>
              <a:ext cx="40539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i="1" lang="en">
                  <a:latin typeface="Lato"/>
                  <a:ea typeface="Lato"/>
                  <a:cs typeface="Lato"/>
                  <a:sym typeface="Lato"/>
                </a:rPr>
                <a:t>Technique for uncovering a corpus' hidden semantic structure and gaining insight into the various themes contained in the texts</a:t>
              </a:r>
              <a:endParaRPr i="1">
                <a:latin typeface="Lato"/>
                <a:ea typeface="Lato"/>
                <a:cs typeface="Lato"/>
                <a:sym typeface="Lato"/>
              </a:endParaRPr>
            </a:p>
          </p:txBody>
        </p:sp>
      </p:grpSp>
      <p:sp>
        <p:nvSpPr>
          <p:cNvPr id="111" name="Google Shape;111;p14"/>
          <p:cNvSpPr/>
          <p:nvPr/>
        </p:nvSpPr>
        <p:spPr>
          <a:xfrm>
            <a:off x="409263" y="3197600"/>
            <a:ext cx="4326300" cy="15147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txBox="1"/>
          <p:nvPr/>
        </p:nvSpPr>
        <p:spPr>
          <a:xfrm>
            <a:off x="605431" y="3252100"/>
            <a:ext cx="38079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900">
                <a:latin typeface="Lato"/>
                <a:ea typeface="Lato"/>
                <a:cs typeface="Lato"/>
                <a:sym typeface="Lato"/>
              </a:rPr>
              <a:t>Sentiment Analysis</a:t>
            </a:r>
            <a:endParaRPr b="1" sz="2400">
              <a:latin typeface="Lato"/>
              <a:ea typeface="Lato"/>
              <a:cs typeface="Lato"/>
              <a:sym typeface="Lato"/>
            </a:endParaRPr>
          </a:p>
        </p:txBody>
      </p:sp>
      <p:sp>
        <p:nvSpPr>
          <p:cNvPr id="113" name="Google Shape;113;p14"/>
          <p:cNvSpPr txBox="1"/>
          <p:nvPr/>
        </p:nvSpPr>
        <p:spPr>
          <a:xfrm>
            <a:off x="605413" y="3729100"/>
            <a:ext cx="40539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i="1" lang="en">
                <a:latin typeface="Lato"/>
                <a:ea typeface="Lato"/>
                <a:cs typeface="Lato"/>
                <a:sym typeface="Lato"/>
              </a:rPr>
              <a:t>Natural Language Processing (NLP) based technique used to determine whether data is positive, negative or neutral</a:t>
            </a:r>
            <a:endParaRPr i="1">
              <a:latin typeface="Lato"/>
              <a:ea typeface="Lato"/>
              <a:cs typeface="Lato"/>
              <a:sym typeface="Lato"/>
            </a:endParaRPr>
          </a:p>
        </p:txBody>
      </p:sp>
      <p:sp>
        <p:nvSpPr>
          <p:cNvPr id="114" name="Google Shape;114;p14"/>
          <p:cNvSpPr/>
          <p:nvPr/>
        </p:nvSpPr>
        <p:spPr>
          <a:xfrm>
            <a:off x="5389075" y="3252100"/>
            <a:ext cx="3345600" cy="1444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rPr lang="en">
                <a:latin typeface="Lato"/>
                <a:ea typeface="Lato"/>
                <a:cs typeface="Lato"/>
                <a:sym typeface="Lato"/>
              </a:rPr>
              <a:t>The analysis is done on a total of 3,00,000 Facebook posts from a variety of Facebook pages, over a wide period of time, and on different topics of electric vehicles</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p:nvPr/>
        </p:nvSpPr>
        <p:spPr>
          <a:xfrm>
            <a:off x="316450" y="1166000"/>
            <a:ext cx="4631400" cy="22122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txBox="1"/>
          <p:nvPr>
            <p:ph type="title"/>
          </p:nvPr>
        </p:nvSpPr>
        <p:spPr>
          <a:xfrm>
            <a:off x="316450" y="79338"/>
            <a:ext cx="76281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Literature Review:</a:t>
            </a:r>
            <a:endParaRPr>
              <a:solidFill>
                <a:srgbClr val="000000"/>
              </a:solidFill>
            </a:endParaRPr>
          </a:p>
        </p:txBody>
      </p:sp>
      <p:sp>
        <p:nvSpPr>
          <p:cNvPr id="121" name="Google Shape;121;p15"/>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 name="Google Shape;122;p15"/>
          <p:cNvSpPr txBox="1"/>
          <p:nvPr/>
        </p:nvSpPr>
        <p:spPr>
          <a:xfrm>
            <a:off x="360100" y="1775175"/>
            <a:ext cx="4544100" cy="1391400"/>
          </a:xfrm>
          <a:prstGeom prst="rect">
            <a:avLst/>
          </a:prstGeom>
          <a:noFill/>
          <a:ln>
            <a:noFill/>
          </a:ln>
        </p:spPr>
        <p:txBody>
          <a:bodyPr anchorCtr="0" anchor="t" bIns="91425" lIns="91425" spcFirstLastPara="1" rIns="91425" wrap="square" tIns="182875">
            <a:noAutofit/>
          </a:bodyPr>
          <a:lstStyle/>
          <a:p>
            <a:pPr indent="-546100" lvl="0" marL="731520" marR="0" rtl="0" algn="l">
              <a:lnSpc>
                <a:spcPct val="150000"/>
              </a:lnSpc>
              <a:spcBef>
                <a:spcPts val="1000"/>
              </a:spcBef>
              <a:spcAft>
                <a:spcPts val="0"/>
              </a:spcAft>
              <a:buSzPts val="1400"/>
              <a:buFont typeface="Lato"/>
              <a:buChar char="●"/>
            </a:pPr>
            <a:r>
              <a:rPr lang="en">
                <a:latin typeface="Lato"/>
                <a:ea typeface="Lato"/>
                <a:cs typeface="Lato"/>
                <a:sym typeface="Lato"/>
              </a:rPr>
              <a:t>Remove all Stop Words, URLs , hashtags, tags, </a:t>
            </a:r>
            <a:r>
              <a:rPr lang="en">
                <a:latin typeface="Lato"/>
                <a:ea typeface="Lato"/>
                <a:cs typeface="Lato"/>
                <a:sym typeface="Lato"/>
              </a:rPr>
              <a:t>punctuations, symbols, and numbers.</a:t>
            </a:r>
            <a:endParaRPr>
              <a:latin typeface="Lato"/>
              <a:ea typeface="Lato"/>
              <a:cs typeface="Lato"/>
              <a:sym typeface="Lato"/>
            </a:endParaRPr>
          </a:p>
          <a:p>
            <a:pPr indent="-546100" lvl="0" marL="731520" marR="0" rtl="0" algn="l">
              <a:lnSpc>
                <a:spcPct val="150000"/>
              </a:lnSpc>
              <a:spcBef>
                <a:spcPts val="0"/>
              </a:spcBef>
              <a:spcAft>
                <a:spcPts val="0"/>
              </a:spcAft>
              <a:buSzPts val="1400"/>
              <a:buFont typeface="Lato"/>
              <a:buChar char="●"/>
            </a:pPr>
            <a:r>
              <a:rPr lang="en">
                <a:latin typeface="Lato"/>
                <a:ea typeface="Lato"/>
                <a:cs typeface="Lato"/>
                <a:sym typeface="Lato"/>
              </a:rPr>
              <a:t>Correct the spellings, expand Acronyms</a:t>
            </a:r>
            <a:endParaRPr>
              <a:latin typeface="Lato"/>
              <a:ea typeface="Lato"/>
              <a:cs typeface="Lato"/>
              <a:sym typeface="Lato"/>
            </a:endParaRPr>
          </a:p>
          <a:p>
            <a:pPr indent="-546100" lvl="0" marL="731520" marR="0" rtl="0" algn="l">
              <a:lnSpc>
                <a:spcPct val="150000"/>
              </a:lnSpc>
              <a:spcBef>
                <a:spcPts val="0"/>
              </a:spcBef>
              <a:spcAft>
                <a:spcPts val="0"/>
              </a:spcAft>
              <a:buSzPts val="1400"/>
              <a:buFont typeface="Lato"/>
              <a:buChar char="●"/>
            </a:pPr>
            <a:r>
              <a:rPr lang="en">
                <a:latin typeface="Lato"/>
                <a:ea typeface="Lato"/>
                <a:cs typeface="Lato"/>
                <a:sym typeface="Lato"/>
              </a:rPr>
              <a:t>Replace all the emoticons with their sentiment.</a:t>
            </a:r>
            <a:endParaRPr sz="1500">
              <a:latin typeface="Lato"/>
              <a:ea typeface="Lato"/>
              <a:cs typeface="Lato"/>
              <a:sym typeface="Lato"/>
            </a:endParaRPr>
          </a:p>
        </p:txBody>
      </p:sp>
      <p:sp>
        <p:nvSpPr>
          <p:cNvPr id="123" name="Google Shape;123;p15"/>
          <p:cNvSpPr/>
          <p:nvPr/>
        </p:nvSpPr>
        <p:spPr>
          <a:xfrm>
            <a:off x="403625" y="3466475"/>
            <a:ext cx="4544100" cy="13914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t/>
            </a:r>
            <a:endParaRPr b="1">
              <a:latin typeface="Lato"/>
              <a:ea typeface="Lato"/>
              <a:cs typeface="Lato"/>
              <a:sym typeface="Lato"/>
            </a:endParaRPr>
          </a:p>
          <a:p>
            <a:pPr indent="0" lvl="0" marL="0" rtl="0" algn="l">
              <a:lnSpc>
                <a:spcPct val="115000"/>
              </a:lnSpc>
              <a:spcBef>
                <a:spcPts val="1000"/>
              </a:spcBef>
              <a:spcAft>
                <a:spcPts val="0"/>
              </a:spcAft>
              <a:buNone/>
            </a:pPr>
            <a:r>
              <a:rPr b="1" lang="en">
                <a:latin typeface="Lato"/>
                <a:ea typeface="Lato"/>
                <a:cs typeface="Lato"/>
                <a:sym typeface="Lato"/>
              </a:rPr>
              <a:t>Natural Language Toolkit (NLTK) </a:t>
            </a:r>
            <a:r>
              <a:rPr lang="en">
                <a:latin typeface="Lato"/>
                <a:ea typeface="Lato"/>
                <a:cs typeface="Lato"/>
                <a:sym typeface="Lato"/>
              </a:rPr>
              <a:t>: Python package that includes several tools for data classification and programming with a collection of text processing packages for classification, tokenization, stemming, tagging, parsing, and reasoning.</a:t>
            </a:r>
            <a:endParaRPr>
              <a:latin typeface="Lato"/>
              <a:ea typeface="Lato"/>
              <a:cs typeface="Lato"/>
              <a:sym typeface="Lato"/>
            </a:endParaRPr>
          </a:p>
          <a:p>
            <a:pPr indent="0" lvl="0" marL="0" rtl="0" algn="l">
              <a:lnSpc>
                <a:spcPct val="115000"/>
              </a:lnSpc>
              <a:spcBef>
                <a:spcPts val="1000"/>
              </a:spcBef>
              <a:spcAft>
                <a:spcPts val="0"/>
              </a:spcAft>
              <a:buNone/>
            </a:pPr>
            <a:r>
              <a:t/>
            </a:r>
            <a:endParaRPr>
              <a:latin typeface="Century Schoolbook"/>
              <a:ea typeface="Century Schoolbook"/>
              <a:cs typeface="Century Schoolbook"/>
              <a:sym typeface="Century Schoolbook"/>
            </a:endParaRPr>
          </a:p>
        </p:txBody>
      </p:sp>
      <p:sp>
        <p:nvSpPr>
          <p:cNvPr id="124" name="Google Shape;124;p15"/>
          <p:cNvSpPr txBox="1"/>
          <p:nvPr/>
        </p:nvSpPr>
        <p:spPr>
          <a:xfrm>
            <a:off x="545300" y="1298175"/>
            <a:ext cx="40263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Lato"/>
                <a:ea typeface="Lato"/>
                <a:cs typeface="Lato"/>
                <a:sym typeface="Lato"/>
              </a:rPr>
              <a:t>Pre Processing</a:t>
            </a:r>
            <a:endParaRPr sz="1900">
              <a:latin typeface="Lato"/>
              <a:ea typeface="Lato"/>
              <a:cs typeface="Lato"/>
              <a:sym typeface="Lato"/>
            </a:endParaRPr>
          </a:p>
        </p:txBody>
      </p:sp>
      <p:sp>
        <p:nvSpPr>
          <p:cNvPr id="125" name="Google Shape;125;p15"/>
          <p:cNvSpPr/>
          <p:nvPr/>
        </p:nvSpPr>
        <p:spPr>
          <a:xfrm>
            <a:off x="5110800" y="1199250"/>
            <a:ext cx="3846600" cy="38112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5"/>
          <p:cNvSpPr txBox="1"/>
          <p:nvPr/>
        </p:nvSpPr>
        <p:spPr>
          <a:xfrm>
            <a:off x="5410350" y="1303250"/>
            <a:ext cx="32475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Lato"/>
                <a:ea typeface="Lato"/>
                <a:cs typeface="Lato"/>
                <a:sym typeface="Lato"/>
              </a:rPr>
              <a:t>Feature Extraction</a:t>
            </a:r>
            <a:endParaRPr sz="1900">
              <a:latin typeface="Lato"/>
              <a:ea typeface="Lato"/>
              <a:cs typeface="Lato"/>
              <a:sym typeface="Lato"/>
            </a:endParaRPr>
          </a:p>
        </p:txBody>
      </p:sp>
      <p:sp>
        <p:nvSpPr>
          <p:cNvPr id="127" name="Google Shape;127;p15"/>
          <p:cNvSpPr txBox="1"/>
          <p:nvPr/>
        </p:nvSpPr>
        <p:spPr>
          <a:xfrm>
            <a:off x="5263375" y="1775175"/>
            <a:ext cx="3655500" cy="2878200"/>
          </a:xfrm>
          <a:prstGeom prst="rect">
            <a:avLst/>
          </a:prstGeom>
          <a:noFill/>
          <a:ln>
            <a:noFill/>
          </a:ln>
        </p:spPr>
        <p:txBody>
          <a:bodyPr anchorCtr="0" anchor="t" bIns="91425" lIns="91425" spcFirstLastPara="1" rIns="91425" wrap="square" tIns="91425">
            <a:spAutoFit/>
          </a:bodyPr>
          <a:lstStyle/>
          <a:p>
            <a:pPr indent="-546100" lvl="0" marL="594360" rtl="0" algn="l">
              <a:lnSpc>
                <a:spcPct val="115000"/>
              </a:lnSpc>
              <a:spcBef>
                <a:spcPts val="1000"/>
              </a:spcBef>
              <a:spcAft>
                <a:spcPts val="0"/>
              </a:spcAft>
              <a:buSzPts val="1400"/>
              <a:buFont typeface="Lato"/>
              <a:buChar char="●"/>
            </a:pPr>
            <a:r>
              <a:rPr lang="en">
                <a:latin typeface="Lato"/>
                <a:ea typeface="Lato"/>
                <a:cs typeface="Lato"/>
                <a:sym typeface="Lato"/>
              </a:rPr>
              <a:t>Words and Their Frequencies: </a:t>
            </a:r>
            <a:r>
              <a:rPr lang="en">
                <a:latin typeface="Lato"/>
                <a:ea typeface="Lato"/>
                <a:cs typeface="Lato"/>
                <a:sym typeface="Lato"/>
              </a:rPr>
              <a:t>U</a:t>
            </a:r>
            <a:r>
              <a:rPr lang="en">
                <a:latin typeface="Lato"/>
                <a:ea typeface="Lato"/>
                <a:cs typeface="Lato"/>
                <a:sym typeface="Lato"/>
              </a:rPr>
              <a:t>nigrams, bigrams, and n-gram models.</a:t>
            </a:r>
            <a:endParaRPr>
              <a:latin typeface="Lato"/>
              <a:ea typeface="Lato"/>
              <a:cs typeface="Lato"/>
              <a:sym typeface="Lato"/>
            </a:endParaRPr>
          </a:p>
          <a:p>
            <a:pPr indent="-546100" lvl="0" marL="594360" rtl="0" algn="l">
              <a:lnSpc>
                <a:spcPct val="115000"/>
              </a:lnSpc>
              <a:spcBef>
                <a:spcPts val="0"/>
              </a:spcBef>
              <a:spcAft>
                <a:spcPts val="0"/>
              </a:spcAft>
              <a:buSzPts val="1400"/>
              <a:buFont typeface="Lato"/>
              <a:buChar char="●"/>
            </a:pPr>
            <a:r>
              <a:rPr lang="en">
                <a:latin typeface="Lato"/>
                <a:ea typeface="Lato"/>
                <a:cs typeface="Lato"/>
                <a:sym typeface="Lato"/>
              </a:rPr>
              <a:t>Parts of Speech Tags, Opinion Words and Phrases Apart from specific words.</a:t>
            </a:r>
            <a:endParaRPr>
              <a:latin typeface="Lato"/>
              <a:ea typeface="Lato"/>
              <a:cs typeface="Lato"/>
              <a:sym typeface="Lato"/>
            </a:endParaRPr>
          </a:p>
          <a:p>
            <a:pPr indent="-546100" lvl="0" marL="594360" rtl="0" algn="l">
              <a:lnSpc>
                <a:spcPct val="115000"/>
              </a:lnSpc>
              <a:spcBef>
                <a:spcPts val="0"/>
              </a:spcBef>
              <a:spcAft>
                <a:spcPts val="0"/>
              </a:spcAft>
              <a:buSzPts val="1400"/>
              <a:buFont typeface="Lato"/>
              <a:buChar char="●"/>
            </a:pPr>
            <a:r>
              <a:rPr lang="en">
                <a:latin typeface="Lato"/>
                <a:ea typeface="Lato"/>
                <a:cs typeface="Lato"/>
                <a:sym typeface="Lato"/>
              </a:rPr>
              <a:t>Negation to understand the polarity of the opinion.</a:t>
            </a:r>
            <a:endParaRPr>
              <a:latin typeface="Lato"/>
              <a:ea typeface="Lato"/>
              <a:cs typeface="Lato"/>
              <a:sym typeface="Lato"/>
            </a:endParaRPr>
          </a:p>
          <a:p>
            <a:pPr indent="-546100" lvl="0" marL="594360" rtl="0" algn="l">
              <a:lnSpc>
                <a:spcPct val="115000"/>
              </a:lnSpc>
              <a:spcBef>
                <a:spcPts val="0"/>
              </a:spcBef>
              <a:spcAft>
                <a:spcPts val="0"/>
              </a:spcAft>
              <a:buSzPts val="1400"/>
              <a:buFont typeface="Lato"/>
              <a:buChar char="●"/>
            </a:pPr>
            <a:r>
              <a:rPr lang="en">
                <a:latin typeface="Lato"/>
                <a:ea typeface="Lato"/>
                <a:cs typeface="Lato"/>
                <a:sym typeface="Lato"/>
              </a:rPr>
              <a:t>Syntax Syntactic patterns like collocations are used as features to learn subjectivity patterns.</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6"/>
          <p:cNvSpPr/>
          <p:nvPr/>
        </p:nvSpPr>
        <p:spPr>
          <a:xfrm>
            <a:off x="316450" y="1166000"/>
            <a:ext cx="4631400" cy="25173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txBox="1"/>
          <p:nvPr>
            <p:ph type="title"/>
          </p:nvPr>
        </p:nvSpPr>
        <p:spPr>
          <a:xfrm>
            <a:off x="316450" y="79338"/>
            <a:ext cx="76281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Literature Review:</a:t>
            </a:r>
            <a:endParaRPr>
              <a:solidFill>
                <a:srgbClr val="000000"/>
              </a:solidFill>
            </a:endParaRPr>
          </a:p>
        </p:txBody>
      </p:sp>
      <p:sp>
        <p:nvSpPr>
          <p:cNvPr id="134" name="Google Shape;134;p16"/>
          <p:cNvSpPr/>
          <p:nvPr/>
        </p:nvSpPr>
        <p:spPr>
          <a:xfrm>
            <a:off x="545300" y="3737750"/>
            <a:ext cx="4282200" cy="11094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t/>
            </a:r>
            <a:endParaRPr b="1">
              <a:latin typeface="Lato"/>
              <a:ea typeface="Lato"/>
              <a:cs typeface="Lato"/>
              <a:sym typeface="Lato"/>
            </a:endParaRPr>
          </a:p>
          <a:p>
            <a:pPr indent="0" lvl="0" marL="0" rtl="0" algn="l">
              <a:lnSpc>
                <a:spcPct val="115000"/>
              </a:lnSpc>
              <a:spcBef>
                <a:spcPts val="1000"/>
              </a:spcBef>
              <a:spcAft>
                <a:spcPts val="0"/>
              </a:spcAft>
              <a:buNone/>
            </a:pPr>
            <a:r>
              <a:rPr b="1" lang="en">
                <a:latin typeface="Lato"/>
                <a:ea typeface="Lato"/>
                <a:cs typeface="Lato"/>
                <a:sym typeface="Lato"/>
              </a:rPr>
              <a:t>Valence Aware Dictionary and Entiment Reasoner (VADER)</a:t>
            </a:r>
            <a:r>
              <a:rPr lang="en">
                <a:latin typeface="Lato"/>
                <a:ea typeface="Lato"/>
                <a:cs typeface="Lato"/>
                <a:sym typeface="Lato"/>
              </a:rPr>
              <a:t> : A sentiment analysis tool that has a lexicon and rules tailored for the sentiment broadcast on social media.</a:t>
            </a:r>
            <a:endParaRPr>
              <a:latin typeface="Lato"/>
              <a:ea typeface="Lato"/>
              <a:cs typeface="Lato"/>
              <a:sym typeface="Lato"/>
            </a:endParaRPr>
          </a:p>
          <a:p>
            <a:pPr indent="0" lvl="0" marL="0" rtl="0" algn="l">
              <a:lnSpc>
                <a:spcPct val="115000"/>
              </a:lnSpc>
              <a:spcBef>
                <a:spcPts val="1000"/>
              </a:spcBef>
              <a:spcAft>
                <a:spcPts val="0"/>
              </a:spcAft>
              <a:buNone/>
            </a:pPr>
            <a:r>
              <a:t/>
            </a:r>
            <a:endParaRPr>
              <a:latin typeface="Century Schoolbook"/>
              <a:ea typeface="Century Schoolbook"/>
              <a:cs typeface="Century Schoolbook"/>
              <a:sym typeface="Century Schoolbook"/>
            </a:endParaRPr>
          </a:p>
        </p:txBody>
      </p:sp>
      <p:sp>
        <p:nvSpPr>
          <p:cNvPr id="135" name="Google Shape;135;p16"/>
          <p:cNvSpPr txBox="1"/>
          <p:nvPr/>
        </p:nvSpPr>
        <p:spPr>
          <a:xfrm>
            <a:off x="545300" y="1298175"/>
            <a:ext cx="40263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latin typeface="Lato"/>
                <a:ea typeface="Lato"/>
                <a:cs typeface="Lato"/>
                <a:sym typeface="Lato"/>
              </a:rPr>
              <a:t>Latent Dirichlet Allocation (LDA)</a:t>
            </a:r>
            <a:endParaRPr sz="1900">
              <a:latin typeface="Lato"/>
              <a:ea typeface="Lato"/>
              <a:cs typeface="Lato"/>
              <a:sym typeface="Lato"/>
            </a:endParaRPr>
          </a:p>
        </p:txBody>
      </p:sp>
      <p:grpSp>
        <p:nvGrpSpPr>
          <p:cNvPr id="136" name="Google Shape;136;p16"/>
          <p:cNvGrpSpPr/>
          <p:nvPr/>
        </p:nvGrpSpPr>
        <p:grpSpPr>
          <a:xfrm>
            <a:off x="5165625" y="1298178"/>
            <a:ext cx="3848429" cy="3020522"/>
            <a:chOff x="5100250" y="1089153"/>
            <a:chExt cx="3848429" cy="3020522"/>
          </a:xfrm>
        </p:grpSpPr>
        <p:pic>
          <p:nvPicPr>
            <p:cNvPr id="137" name="Google Shape;137;p16"/>
            <p:cNvPicPr preferRelativeResize="0"/>
            <p:nvPr/>
          </p:nvPicPr>
          <p:blipFill>
            <a:blip r:embed="rId3">
              <a:alphaModFix/>
            </a:blip>
            <a:stretch>
              <a:fillRect/>
            </a:stretch>
          </p:blipFill>
          <p:spPr>
            <a:xfrm>
              <a:off x="5100250" y="1089153"/>
              <a:ext cx="3848429" cy="2366425"/>
            </a:xfrm>
            <a:prstGeom prst="rect">
              <a:avLst/>
            </a:prstGeom>
            <a:noFill/>
            <a:ln>
              <a:noFill/>
            </a:ln>
          </p:spPr>
        </p:pic>
        <p:sp>
          <p:nvSpPr>
            <p:cNvPr id="138" name="Google Shape;138;p16"/>
            <p:cNvSpPr txBox="1"/>
            <p:nvPr/>
          </p:nvSpPr>
          <p:spPr>
            <a:xfrm>
              <a:off x="5455313" y="3694175"/>
              <a:ext cx="31383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lang="en" sz="1500">
                  <a:latin typeface="Lato"/>
                  <a:ea typeface="Lato"/>
                  <a:cs typeface="Lato"/>
                  <a:sym typeface="Lato"/>
                </a:rPr>
                <a:t>The generative process of LDA</a:t>
              </a:r>
              <a:endParaRPr sz="1500">
                <a:latin typeface="Lato"/>
                <a:ea typeface="Lato"/>
                <a:cs typeface="Lato"/>
                <a:sym typeface="Lato"/>
              </a:endParaRPr>
            </a:p>
          </p:txBody>
        </p:sp>
      </p:grpSp>
      <p:sp>
        <p:nvSpPr>
          <p:cNvPr id="139" name="Google Shape;139;p16"/>
          <p:cNvSpPr txBox="1"/>
          <p:nvPr/>
        </p:nvSpPr>
        <p:spPr>
          <a:xfrm>
            <a:off x="539950" y="1775175"/>
            <a:ext cx="4184400" cy="1887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SzPts val="1400"/>
              <a:buFont typeface="Lato"/>
              <a:buChar char="●"/>
            </a:pPr>
            <a:r>
              <a:rPr lang="en">
                <a:latin typeface="Lato"/>
                <a:ea typeface="Lato"/>
                <a:cs typeface="Lato"/>
                <a:sym typeface="Lato"/>
              </a:rPr>
              <a:t> For each topic, j, βj is sampled.</a:t>
            </a:r>
            <a:endParaRPr>
              <a:latin typeface="Lato"/>
              <a:ea typeface="Lato"/>
              <a:cs typeface="Lato"/>
              <a:sym typeface="Lato"/>
            </a:endParaRPr>
          </a:p>
          <a:p>
            <a:pPr indent="-317500" lvl="0" marL="457200" rtl="0" algn="l">
              <a:lnSpc>
                <a:spcPct val="115000"/>
              </a:lnSpc>
              <a:spcBef>
                <a:spcPts val="0"/>
              </a:spcBef>
              <a:spcAft>
                <a:spcPts val="0"/>
              </a:spcAft>
              <a:buSzPts val="1400"/>
              <a:buFont typeface="Lato"/>
              <a:buChar char="●"/>
            </a:pPr>
            <a:r>
              <a:rPr lang="en">
                <a:latin typeface="Lato"/>
                <a:ea typeface="Lato"/>
                <a:cs typeface="Lato"/>
                <a:sym typeface="Lato"/>
              </a:rPr>
              <a:t> For each document, m, θm is sampled. </a:t>
            </a:r>
            <a:endParaRPr>
              <a:latin typeface="Lato"/>
              <a:ea typeface="Lato"/>
              <a:cs typeface="Lato"/>
              <a:sym typeface="Lato"/>
            </a:endParaRPr>
          </a:p>
          <a:p>
            <a:pPr indent="-317500" lvl="0" marL="457200" rtl="0" algn="l">
              <a:lnSpc>
                <a:spcPct val="115000"/>
              </a:lnSpc>
              <a:spcBef>
                <a:spcPts val="0"/>
              </a:spcBef>
              <a:spcAft>
                <a:spcPts val="0"/>
              </a:spcAft>
              <a:buSzPts val="1400"/>
              <a:buFont typeface="Lato"/>
              <a:buChar char="●"/>
            </a:pPr>
            <a:r>
              <a:rPr lang="en">
                <a:latin typeface="Lato"/>
                <a:ea typeface="Lato"/>
                <a:cs typeface="Lato"/>
                <a:sym typeface="Lato"/>
              </a:rPr>
              <a:t> For each word position n in document m , a topic z from the categorical distribution parameterized by θm. </a:t>
            </a:r>
            <a:endParaRPr>
              <a:latin typeface="Lato"/>
              <a:ea typeface="Lato"/>
              <a:cs typeface="Lato"/>
              <a:sym typeface="Lato"/>
            </a:endParaRPr>
          </a:p>
          <a:p>
            <a:pPr indent="-317500" lvl="0" marL="457200" rtl="0" algn="l">
              <a:lnSpc>
                <a:spcPct val="115000"/>
              </a:lnSpc>
              <a:spcBef>
                <a:spcPts val="0"/>
              </a:spcBef>
              <a:spcAft>
                <a:spcPts val="0"/>
              </a:spcAft>
              <a:buSzPts val="1400"/>
              <a:buFont typeface="Lato"/>
              <a:buChar char="●"/>
            </a:pPr>
            <a:r>
              <a:rPr lang="en">
                <a:latin typeface="Lato"/>
                <a:ea typeface="Lato"/>
                <a:cs typeface="Lato"/>
                <a:sym typeface="Lato"/>
              </a:rPr>
              <a:t> Finally, a parameterized word from the categorical distribution by βz. </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p:nvPr/>
        </p:nvSpPr>
        <p:spPr>
          <a:xfrm>
            <a:off x="316450" y="1024325"/>
            <a:ext cx="8412300" cy="12423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rPr lang="en" sz="1500">
                <a:latin typeface="Lato"/>
                <a:ea typeface="Lato"/>
                <a:cs typeface="Lato"/>
                <a:sym typeface="Lato"/>
              </a:rPr>
              <a:t>To analyze how electric vehicles and related topics are being perceived sentimentally in social media. We will perform LDA on the Facebook data of electric vehicles to collect the top 20 words. Understanding user sentiments to implement VADER and SONAR sentiment analysis models.</a:t>
            </a:r>
            <a:endParaRPr b="1" sz="1700">
              <a:latin typeface="Lato"/>
              <a:ea typeface="Lato"/>
              <a:cs typeface="Lato"/>
              <a:sym typeface="Lato"/>
            </a:endParaRPr>
          </a:p>
        </p:txBody>
      </p:sp>
      <p:sp>
        <p:nvSpPr>
          <p:cNvPr id="145" name="Google Shape;145;p17"/>
          <p:cNvSpPr txBox="1"/>
          <p:nvPr>
            <p:ph type="title"/>
          </p:nvPr>
        </p:nvSpPr>
        <p:spPr>
          <a:xfrm>
            <a:off x="316450" y="79338"/>
            <a:ext cx="7628100" cy="857400"/>
          </a:xfrm>
          <a:prstGeom prst="rect">
            <a:avLst/>
          </a:prstGeom>
        </p:spPr>
        <p:txBody>
          <a:bodyPr anchorCtr="0" anchor="ctr" bIns="91425" lIns="91425" spcFirstLastPara="1" rIns="91425" wrap="square" tIns="91425">
            <a:noAutofit/>
          </a:bodyPr>
          <a:lstStyle/>
          <a:p>
            <a:pPr indent="0" lvl="0" marL="0" rtl="0" algn="l">
              <a:lnSpc>
                <a:spcPct val="115000"/>
              </a:lnSpc>
              <a:spcBef>
                <a:spcPts val="1000"/>
              </a:spcBef>
              <a:spcAft>
                <a:spcPts val="0"/>
              </a:spcAft>
              <a:buNone/>
            </a:pPr>
            <a:r>
              <a:rPr lang="en" sz="3600">
                <a:solidFill>
                  <a:srgbClr val="000000"/>
                </a:solidFill>
                <a:latin typeface="Lato"/>
                <a:ea typeface="Lato"/>
                <a:cs typeface="Lato"/>
                <a:sym typeface="Lato"/>
              </a:rPr>
              <a:t>OBJECTIVES</a:t>
            </a:r>
            <a:endParaRPr sz="5200">
              <a:solidFill>
                <a:srgbClr val="000000"/>
              </a:solidFill>
              <a:latin typeface="Lato"/>
              <a:ea typeface="Lato"/>
              <a:cs typeface="Lato"/>
              <a:sym typeface="Lato"/>
            </a:endParaRPr>
          </a:p>
        </p:txBody>
      </p:sp>
      <p:sp>
        <p:nvSpPr>
          <p:cNvPr id="146" name="Google Shape;146;p17"/>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17"/>
          <p:cNvSpPr/>
          <p:nvPr/>
        </p:nvSpPr>
        <p:spPr>
          <a:xfrm>
            <a:off x="316450" y="2419025"/>
            <a:ext cx="8412300" cy="24522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1000"/>
              </a:spcBef>
              <a:spcAft>
                <a:spcPts val="0"/>
              </a:spcAft>
              <a:buNone/>
            </a:pPr>
            <a:r>
              <a:rPr lang="en" sz="1600">
                <a:latin typeface="Lato"/>
                <a:ea typeface="Lato"/>
                <a:cs typeface="Lato"/>
                <a:sym typeface="Lato"/>
              </a:rPr>
              <a:t>The main objective of this project includes:</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 Exploratory data analysis of posts, user location, and keywords.</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 Development of the topic model to identify the key topics.</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 Visualization of different topics from the electric vehicle tweets.</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 Result of sentiment analysis to identify positive, negative, and neutral posts.</a:t>
            </a:r>
            <a:endParaRPr sz="1800">
              <a:latin typeface="Lato"/>
              <a:ea typeface="Lato"/>
              <a:cs typeface="Lato"/>
              <a:sym typeface="Lato"/>
            </a:endParaRPr>
          </a:p>
        </p:txBody>
      </p:sp>
      <p:sp>
        <p:nvSpPr>
          <p:cNvPr id="148" name="Google Shape;148;p17"/>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316450" y="79350"/>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About the Dataset</a:t>
            </a:r>
            <a:endParaRPr>
              <a:solidFill>
                <a:srgbClr val="000000"/>
              </a:solidFill>
            </a:endParaRPr>
          </a:p>
        </p:txBody>
      </p:sp>
      <p:sp>
        <p:nvSpPr>
          <p:cNvPr id="154" name="Google Shape;154;p18"/>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18"/>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graphicFrame>
        <p:nvGraphicFramePr>
          <p:cNvPr id="156" name="Google Shape;156;p18"/>
          <p:cNvGraphicFramePr/>
          <p:nvPr/>
        </p:nvGraphicFramePr>
        <p:xfrm>
          <a:off x="128700" y="936750"/>
          <a:ext cx="3000000" cy="3000000"/>
        </p:xfrm>
        <a:graphic>
          <a:graphicData uri="http://schemas.openxmlformats.org/drawingml/2006/table">
            <a:tbl>
              <a:tblPr>
                <a:noFill/>
                <a:tableStyleId>{620A6F30-3CF8-49AB-AB95-9526AFEB8292}</a:tableStyleId>
              </a:tblPr>
              <a:tblGrid>
                <a:gridCol w="4144050"/>
                <a:gridCol w="4144050"/>
              </a:tblGrid>
              <a:tr h="515675">
                <a:tc>
                  <a:txBody>
                    <a:bodyPr/>
                    <a:lstStyle/>
                    <a:p>
                      <a:pPr indent="0" lvl="0" marL="0" rtl="0" algn="l">
                        <a:spcBef>
                          <a:spcPts val="0"/>
                        </a:spcBef>
                        <a:spcAft>
                          <a:spcPts val="0"/>
                        </a:spcAft>
                        <a:buNone/>
                      </a:pPr>
                      <a:r>
                        <a:rPr b="1" lang="en" sz="1700">
                          <a:latin typeface="Lato"/>
                          <a:ea typeface="Lato"/>
                          <a:cs typeface="Lato"/>
                          <a:sym typeface="Lato"/>
                        </a:rPr>
                        <a:t>                                     Key Columns</a:t>
                      </a:r>
                      <a:endParaRPr b="1" sz="1700">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chemeClr val="accent5">
                          <a:alpha val="0"/>
                        </a:scheme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chemeClr val="accent5">
                          <a:alpha val="0"/>
                        </a:schemeClr>
                      </a:solidFill>
                      <a:prstDash val="solid"/>
                      <a:round/>
                      <a:headEnd len="sm" w="sm" type="none"/>
                      <a:tailEnd len="sm" w="sm" type="none"/>
                    </a:lnB>
                  </a:tcPr>
                </a:tc>
                <a:tc>
                  <a:txBody>
                    <a:bodyPr/>
                    <a:lstStyle/>
                    <a:p>
                      <a:pPr indent="0" lvl="0" marL="0" rtl="0" algn="l">
                        <a:spcBef>
                          <a:spcPts val="0"/>
                        </a:spcBef>
                        <a:spcAft>
                          <a:spcPts val="0"/>
                        </a:spcAft>
                        <a:buNone/>
                      </a:pPr>
                      <a:r>
                        <a:rPr b="1" lang="en" sz="1700">
                          <a:latin typeface="Lato"/>
                          <a:ea typeface="Lato"/>
                          <a:cs typeface="Lato"/>
                          <a:sym typeface="Lato"/>
                        </a:rPr>
                        <a:t>Description</a:t>
                      </a:r>
                      <a:endParaRPr b="1" sz="1700">
                        <a:latin typeface="Lato"/>
                        <a:ea typeface="Lato"/>
                        <a:cs typeface="Lato"/>
                        <a:sym typeface="Lato"/>
                      </a:endParaRPr>
                    </a:p>
                  </a:txBody>
                  <a:tcPr marT="91425" marB="91425" marR="91425" marL="274300">
                    <a:lnL cap="flat" cmpd="sng" w="19050">
                      <a:solidFill>
                        <a:schemeClr val="accent5">
                          <a:alpha val="0"/>
                        </a:scheme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chemeClr val="accent5">
                          <a:alpha val="0"/>
                        </a:schemeClr>
                      </a:solidFill>
                      <a:prstDash val="solid"/>
                      <a:round/>
                      <a:headEnd len="sm" w="sm" type="none"/>
                      <a:tailEnd len="sm" w="sm" type="none"/>
                    </a:lnB>
                  </a:tcPr>
                </a:tc>
              </a:tr>
              <a:tr h="515675">
                <a:tc>
                  <a:txBody>
                    <a:bodyPr/>
                    <a:lstStyle/>
                    <a:p>
                      <a:pPr indent="0" lvl="0" marL="0" rtl="0" algn="ctr">
                        <a:spcBef>
                          <a:spcPts val="0"/>
                        </a:spcBef>
                        <a:spcAft>
                          <a:spcPts val="0"/>
                        </a:spcAft>
                        <a:buNone/>
                      </a:pPr>
                      <a:r>
                        <a:rPr lang="en">
                          <a:latin typeface="Lato"/>
                          <a:ea typeface="Lato"/>
                          <a:cs typeface="Lato"/>
                          <a:sym typeface="Lato"/>
                        </a:rPr>
                        <a:t>Page Name</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chemeClr val="accent5">
                          <a:alpha val="0"/>
                        </a:scheme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Name of the page from where the text is taken</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chemeClr val="accent5">
                          <a:alpha val="0"/>
                        </a:scheme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r h="515675">
                <a:tc>
                  <a:txBody>
                    <a:bodyPr/>
                    <a:lstStyle/>
                    <a:p>
                      <a:pPr indent="0" lvl="0" marL="0" rtl="0" algn="ctr">
                        <a:spcBef>
                          <a:spcPts val="0"/>
                        </a:spcBef>
                        <a:spcAft>
                          <a:spcPts val="0"/>
                        </a:spcAft>
                        <a:buNone/>
                      </a:pPr>
                      <a:r>
                        <a:rPr lang="en">
                          <a:latin typeface="Lato"/>
                          <a:ea typeface="Lato"/>
                          <a:cs typeface="Lato"/>
                          <a:sym typeface="Lato"/>
                        </a:rPr>
                        <a:t>User Name</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User Name of the user who wrote the text </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r h="608550">
                <a:tc>
                  <a:txBody>
                    <a:bodyPr/>
                    <a:lstStyle/>
                    <a:p>
                      <a:pPr indent="0" lvl="0" marL="0" rtl="0" algn="ctr">
                        <a:spcBef>
                          <a:spcPts val="0"/>
                        </a:spcBef>
                        <a:spcAft>
                          <a:spcPts val="0"/>
                        </a:spcAft>
                        <a:buNone/>
                      </a:pPr>
                      <a:r>
                        <a:rPr lang="en">
                          <a:latin typeface="Lato"/>
                          <a:ea typeface="Lato"/>
                          <a:cs typeface="Lato"/>
                          <a:sym typeface="Lato"/>
                        </a:rPr>
                        <a:t>Facebook Id</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Facebook id </a:t>
                      </a:r>
                      <a:r>
                        <a:rPr lang="en">
                          <a:latin typeface="Lato"/>
                          <a:ea typeface="Lato"/>
                          <a:cs typeface="Lato"/>
                          <a:sym typeface="Lato"/>
                        </a:rPr>
                        <a:t>of the user who wrote the text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r h="608550">
                <a:tc>
                  <a:txBody>
                    <a:bodyPr/>
                    <a:lstStyle/>
                    <a:p>
                      <a:pPr indent="0" lvl="0" marL="0" rtl="0" algn="ctr">
                        <a:spcBef>
                          <a:spcPts val="0"/>
                        </a:spcBef>
                        <a:spcAft>
                          <a:spcPts val="0"/>
                        </a:spcAft>
                        <a:buNone/>
                      </a:pPr>
                      <a:r>
                        <a:rPr lang="en">
                          <a:latin typeface="Lato"/>
                          <a:ea typeface="Lato"/>
                          <a:cs typeface="Lato"/>
                          <a:sym typeface="Lato"/>
                        </a:rPr>
                        <a:t>Page Category</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chemeClr val="accent5">
                          <a:alpha val="0"/>
                        </a:scheme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The category of the page from where the text is taken</a:t>
                      </a:r>
                      <a:endParaRPr>
                        <a:latin typeface="Lato"/>
                        <a:ea typeface="Lato"/>
                        <a:cs typeface="Lato"/>
                        <a:sym typeface="Lato"/>
                      </a:endParaRPr>
                    </a:p>
                  </a:txBody>
                  <a:tcPr marT="91425" marB="91425" marR="91425" marL="274300">
                    <a:lnL cap="flat" cmpd="sng" w="19050">
                      <a:solidFill>
                        <a:schemeClr val="accent5">
                          <a:alpha val="0"/>
                        </a:scheme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r h="696200">
                <a:tc>
                  <a:txBody>
                    <a:bodyPr/>
                    <a:lstStyle/>
                    <a:p>
                      <a:pPr indent="0" lvl="0" marL="0" rtl="0" algn="ctr">
                        <a:spcBef>
                          <a:spcPts val="0"/>
                        </a:spcBef>
                        <a:spcAft>
                          <a:spcPts val="0"/>
                        </a:spcAft>
                        <a:buNone/>
                      </a:pPr>
                      <a:r>
                        <a:rPr lang="en">
                          <a:latin typeface="Lato"/>
                          <a:ea typeface="Lato"/>
                          <a:cs typeface="Lato"/>
                          <a:sym typeface="Lato"/>
                        </a:rPr>
                        <a:t>Page Admin Top Country</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The country of the admin of the page from where the text is taken</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r h="696200">
                <a:tc>
                  <a:txBody>
                    <a:bodyPr/>
                    <a:lstStyle/>
                    <a:p>
                      <a:pPr indent="0" lvl="0" marL="0" rtl="0" algn="ctr">
                        <a:spcBef>
                          <a:spcPts val="0"/>
                        </a:spcBef>
                        <a:spcAft>
                          <a:spcPts val="0"/>
                        </a:spcAft>
                        <a:buNone/>
                      </a:pPr>
                      <a:r>
                        <a:rPr lang="en">
                          <a:latin typeface="Lato"/>
                          <a:ea typeface="Lato"/>
                          <a:cs typeface="Lato"/>
                          <a:sym typeface="Lato"/>
                        </a:rPr>
                        <a:t>Page Description</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a:latin typeface="Lato"/>
                          <a:ea typeface="Lato"/>
                          <a:cs typeface="Lato"/>
                          <a:sym typeface="Lato"/>
                        </a:rPr>
                        <a:t>The given description of </a:t>
                      </a:r>
                      <a:r>
                        <a:rPr lang="en">
                          <a:latin typeface="Lato"/>
                          <a:ea typeface="Lato"/>
                          <a:cs typeface="Lato"/>
                          <a:sym typeface="Lato"/>
                        </a:rPr>
                        <a:t>the</a:t>
                      </a:r>
                      <a:r>
                        <a:rPr lang="en">
                          <a:latin typeface="Lato"/>
                          <a:ea typeface="Lato"/>
                          <a:cs typeface="Lato"/>
                          <a:sym typeface="Lato"/>
                        </a:rPr>
                        <a:t> page</a:t>
                      </a:r>
                      <a:endParaRPr>
                        <a:latin typeface="Lato"/>
                        <a:ea typeface="Lato"/>
                        <a:cs typeface="Lato"/>
                        <a:sym typeface="Lato"/>
                      </a:endParaRPr>
                    </a:p>
                  </a:txBody>
                  <a:tcPr marT="91425" marB="91425" marR="91425" marL="274300">
                    <a:lnL cap="flat" cmpd="sng" w="19050">
                      <a:solidFill>
                        <a:srgbClr val="9E9E9E">
                          <a:alpha val="0"/>
                        </a:srgbClr>
                      </a:solidFill>
                      <a:prstDash val="solid"/>
                      <a:round/>
                      <a:headEnd len="sm" w="sm" type="none"/>
                      <a:tailEnd len="sm" w="sm" type="none"/>
                    </a:lnL>
                    <a:lnR cap="flat" cmpd="sng" w="19050">
                      <a:solidFill>
                        <a:srgbClr val="9E9E9E">
                          <a:alpha val="0"/>
                        </a:srgbClr>
                      </a:solidFill>
                      <a:prstDash val="solid"/>
                      <a:round/>
                      <a:headEnd len="sm" w="sm" type="none"/>
                      <a:tailEnd len="sm" w="sm" type="none"/>
                    </a:lnR>
                    <a:lnT cap="flat" cmpd="sng" w="19050">
                      <a:solidFill>
                        <a:srgbClr val="9E9E9E">
                          <a:alpha val="0"/>
                        </a:srgbClr>
                      </a:solidFill>
                      <a:prstDash val="solid"/>
                      <a:round/>
                      <a:headEnd len="sm" w="sm" type="none"/>
                      <a:tailEnd len="sm" w="sm" type="none"/>
                    </a:lnT>
                    <a:lnB cap="flat" cmpd="sng" w="19050">
                      <a:solidFill>
                        <a:srgbClr val="9E9E9E">
                          <a:alpha val="0"/>
                        </a:srgbClr>
                      </a:solidFill>
                      <a:prstDash val="solid"/>
                      <a:round/>
                      <a:headEnd len="sm" w="sm" type="none"/>
                      <a:tailEnd len="sm" w="sm" type="none"/>
                    </a:lnB>
                  </a:tcPr>
                </a:tc>
              </a:tr>
            </a:tbl>
          </a:graphicData>
        </a:graphic>
      </p:graphicFrame>
      <p:cxnSp>
        <p:nvCxnSpPr>
          <p:cNvPr id="157" name="Google Shape;157;p18"/>
          <p:cNvCxnSpPr/>
          <p:nvPr/>
        </p:nvCxnSpPr>
        <p:spPr>
          <a:xfrm>
            <a:off x="3635550" y="936750"/>
            <a:ext cx="0" cy="3977400"/>
          </a:xfrm>
          <a:prstGeom prst="straightConnector1">
            <a:avLst/>
          </a:prstGeom>
          <a:noFill/>
          <a:ln cap="flat" cmpd="sng" w="19050">
            <a:solidFill>
              <a:schemeClr val="accent5"/>
            </a:solidFill>
            <a:prstDash val="solid"/>
            <a:round/>
            <a:headEnd len="med" w="med" type="none"/>
            <a:tailEnd len="med" w="med" type="none"/>
          </a:ln>
        </p:spPr>
      </p:cxnSp>
      <p:cxnSp>
        <p:nvCxnSpPr>
          <p:cNvPr id="158" name="Google Shape;158;p18"/>
          <p:cNvCxnSpPr/>
          <p:nvPr/>
        </p:nvCxnSpPr>
        <p:spPr>
          <a:xfrm rot="10800000">
            <a:off x="1647300" y="1427600"/>
            <a:ext cx="5109000" cy="2610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316450" y="79350"/>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Effect of preprocessing the dataset</a:t>
            </a:r>
            <a:endParaRPr>
              <a:solidFill>
                <a:srgbClr val="000000"/>
              </a:solidFill>
            </a:endParaRPr>
          </a:p>
        </p:txBody>
      </p:sp>
      <p:sp>
        <p:nvSpPr>
          <p:cNvPr id="164" name="Google Shape;164;p19"/>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19"/>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pic>
        <p:nvPicPr>
          <p:cNvPr descr="C:\Users\DELL\Desktop\original vs cleaned.PNG" id="166" name="Google Shape;166;p19"/>
          <p:cNvPicPr preferRelativeResize="0"/>
          <p:nvPr/>
        </p:nvPicPr>
        <p:blipFill>
          <a:blip r:embed="rId3">
            <a:alphaModFix/>
          </a:blip>
          <a:stretch>
            <a:fillRect/>
          </a:stretch>
        </p:blipFill>
        <p:spPr>
          <a:xfrm>
            <a:off x="729225" y="986200"/>
            <a:ext cx="7562851" cy="3507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316450" y="79350"/>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Pre-processing schemes</a:t>
            </a:r>
            <a:endParaRPr>
              <a:solidFill>
                <a:srgbClr val="000000"/>
              </a:solidFill>
            </a:endParaRPr>
          </a:p>
        </p:txBody>
      </p:sp>
      <p:sp>
        <p:nvSpPr>
          <p:cNvPr id="172" name="Google Shape;172;p20"/>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0"/>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sp>
        <p:nvSpPr>
          <p:cNvPr id="174" name="Google Shape;174;p20"/>
          <p:cNvSpPr txBox="1"/>
          <p:nvPr/>
        </p:nvSpPr>
        <p:spPr>
          <a:xfrm>
            <a:off x="316450" y="936750"/>
            <a:ext cx="8456400" cy="4009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Lato"/>
              <a:buChar char="●"/>
            </a:pPr>
            <a:r>
              <a:rPr b="1" lang="en" sz="1600">
                <a:latin typeface="Lato"/>
                <a:ea typeface="Lato"/>
                <a:cs typeface="Lato"/>
                <a:sym typeface="Lato"/>
              </a:rPr>
              <a:t>Tokenization</a:t>
            </a:r>
            <a:endParaRPr b="1" sz="1600">
              <a:latin typeface="Lato"/>
              <a:ea typeface="Lato"/>
              <a:cs typeface="Lato"/>
              <a:sym typeface="Lato"/>
            </a:endParaRPr>
          </a:p>
          <a:p>
            <a:pPr indent="0" lvl="0" marL="457200" rtl="0" algn="l">
              <a:lnSpc>
                <a:spcPct val="115000"/>
              </a:lnSpc>
              <a:spcBef>
                <a:spcPts val="0"/>
              </a:spcBef>
              <a:spcAft>
                <a:spcPts val="0"/>
              </a:spcAft>
              <a:buNone/>
            </a:pPr>
            <a:r>
              <a:rPr lang="en" sz="1600">
                <a:latin typeface="Lato"/>
                <a:ea typeface="Lato"/>
                <a:cs typeface="Lato"/>
                <a:sym typeface="Lato"/>
              </a:rPr>
              <a:t>Segmentation already happens in English, and tokenization is implicit. Because a space separates each word, it can make the token by dividing the text on each space</a:t>
            </a:r>
            <a:r>
              <a:rPr lang="en">
                <a:latin typeface="Century Schoolbook"/>
                <a:ea typeface="Century Schoolbook"/>
                <a:cs typeface="Century Schoolbook"/>
                <a:sym typeface="Century Schoolbook"/>
              </a:rPr>
              <a:t>.</a:t>
            </a:r>
            <a:endParaRPr>
              <a:latin typeface="Century Schoolbook"/>
              <a:ea typeface="Century Schoolbook"/>
              <a:cs typeface="Century Schoolbook"/>
              <a:sym typeface="Century Schoolbook"/>
            </a:endParaRPr>
          </a:p>
          <a:p>
            <a:pPr indent="0" lvl="0" marL="457200" rtl="0" algn="l">
              <a:lnSpc>
                <a:spcPct val="115000"/>
              </a:lnSpc>
              <a:spcBef>
                <a:spcPts val="0"/>
              </a:spcBef>
              <a:spcAft>
                <a:spcPts val="0"/>
              </a:spcAft>
              <a:buNone/>
            </a:pPr>
            <a:r>
              <a:t/>
            </a:r>
            <a:endParaRPr>
              <a:latin typeface="Century Schoolbook"/>
              <a:ea typeface="Century Schoolbook"/>
              <a:cs typeface="Century Schoolbook"/>
              <a:sym typeface="Century Schoolbook"/>
            </a:endParaRPr>
          </a:p>
          <a:p>
            <a:pPr indent="-330200" lvl="0" marL="457200" rtl="0" algn="l">
              <a:lnSpc>
                <a:spcPct val="115000"/>
              </a:lnSpc>
              <a:spcBef>
                <a:spcPts val="0"/>
              </a:spcBef>
              <a:spcAft>
                <a:spcPts val="0"/>
              </a:spcAft>
              <a:buSzPts val="1600"/>
              <a:buFont typeface="Lato"/>
              <a:buChar char="●"/>
            </a:pPr>
            <a:r>
              <a:rPr b="1" lang="en" sz="1600">
                <a:latin typeface="Lato"/>
                <a:ea typeface="Lato"/>
                <a:cs typeface="Lato"/>
                <a:sym typeface="Lato"/>
              </a:rPr>
              <a:t>POS Tag Detection</a:t>
            </a:r>
            <a:endParaRPr b="1" sz="1600">
              <a:latin typeface="Lato"/>
              <a:ea typeface="Lato"/>
              <a:cs typeface="Lato"/>
              <a:sym typeface="Lato"/>
            </a:endParaRPr>
          </a:p>
          <a:p>
            <a:pPr indent="0" lvl="0" marL="457200" rtl="0" algn="l">
              <a:lnSpc>
                <a:spcPct val="115000"/>
              </a:lnSpc>
              <a:spcBef>
                <a:spcPts val="0"/>
              </a:spcBef>
              <a:spcAft>
                <a:spcPts val="0"/>
              </a:spcAft>
              <a:buNone/>
            </a:pPr>
            <a:r>
              <a:rPr lang="en" sz="1600">
                <a:latin typeface="Lato"/>
                <a:ea typeface="Lato"/>
                <a:cs typeface="Lato"/>
                <a:sym typeface="Lato"/>
              </a:rPr>
              <a:t>For data analysis, a part of speech could be helpful in two ways. For instance, one can use it to clarify a word's meaning. The second application of POS tags is classifying terms and processing them differently, depending on which kind they belong.</a:t>
            </a:r>
            <a:endParaRPr sz="1600">
              <a:latin typeface="Lato"/>
              <a:ea typeface="Lato"/>
              <a:cs typeface="Lato"/>
              <a:sym typeface="Lato"/>
            </a:endParaRPr>
          </a:p>
          <a:p>
            <a:pPr indent="0" lvl="0" marL="457200" rtl="0" algn="l">
              <a:lnSpc>
                <a:spcPct val="115000"/>
              </a:lnSpc>
              <a:spcBef>
                <a:spcPts val="0"/>
              </a:spcBef>
              <a:spcAft>
                <a:spcPts val="0"/>
              </a:spcAft>
              <a:buNone/>
            </a:pPr>
            <a:r>
              <a:t/>
            </a:r>
            <a:endParaRPr sz="1600">
              <a:latin typeface="Lato"/>
              <a:ea typeface="Lato"/>
              <a:cs typeface="Lato"/>
              <a:sym typeface="Lato"/>
            </a:endParaRPr>
          </a:p>
          <a:p>
            <a:pPr indent="-330200" lvl="0" marL="457200" rtl="0" algn="l">
              <a:lnSpc>
                <a:spcPct val="115000"/>
              </a:lnSpc>
              <a:spcBef>
                <a:spcPts val="0"/>
              </a:spcBef>
              <a:spcAft>
                <a:spcPts val="0"/>
              </a:spcAft>
              <a:buSzPts val="1600"/>
              <a:buFont typeface="Lato"/>
              <a:buChar char="●"/>
            </a:pPr>
            <a:r>
              <a:rPr b="1" lang="en" sz="1600">
                <a:latin typeface="Lato"/>
                <a:ea typeface="Lato"/>
                <a:cs typeface="Lato"/>
                <a:sym typeface="Lato"/>
              </a:rPr>
              <a:t>Lemmatization</a:t>
            </a:r>
            <a:endParaRPr b="1" sz="1600">
              <a:latin typeface="Lato"/>
              <a:ea typeface="Lato"/>
              <a:cs typeface="Lato"/>
              <a:sym typeface="Lato"/>
            </a:endParaRPr>
          </a:p>
          <a:p>
            <a:pPr indent="0" lvl="0" marL="457200" rtl="0" algn="l">
              <a:lnSpc>
                <a:spcPct val="115000"/>
              </a:lnSpc>
              <a:spcBef>
                <a:spcPts val="0"/>
              </a:spcBef>
              <a:spcAft>
                <a:spcPts val="0"/>
              </a:spcAft>
              <a:buNone/>
            </a:pPr>
            <a:r>
              <a:rPr lang="en" sz="1600">
                <a:latin typeface="Lato"/>
                <a:ea typeface="Lato"/>
                <a:cs typeface="Lato"/>
                <a:sym typeface="Lato"/>
              </a:rPr>
              <a:t>When processing samples, “word” and “words” would be considered as two different   features. Hence, to improve the features reduction process, the unigrams can be lemmatized. This pre-processing step mainly allows removing plurals and conjugations.</a:t>
            </a:r>
            <a:endParaRPr sz="1600">
              <a:latin typeface="Lato"/>
              <a:ea typeface="Lato"/>
              <a:cs typeface="Lato"/>
              <a:sym typeface="Lato"/>
            </a:endParaRPr>
          </a:p>
          <a:p>
            <a:pPr indent="0" lvl="0" marL="457200" rtl="0" algn="l">
              <a:lnSpc>
                <a:spcPct val="115000"/>
              </a:lnSpc>
              <a:spcBef>
                <a:spcPts val="0"/>
              </a:spcBef>
              <a:spcAft>
                <a:spcPts val="0"/>
              </a:spcAft>
              <a:buNone/>
            </a:pPr>
            <a:r>
              <a:t/>
            </a:r>
            <a:endParaRPr>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316500" y="-80725"/>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Visualization</a:t>
            </a:r>
            <a:r>
              <a:rPr lang="en">
                <a:solidFill>
                  <a:srgbClr val="000000"/>
                </a:solidFill>
              </a:rPr>
              <a:t> of LDA and VADER models</a:t>
            </a:r>
            <a:endParaRPr>
              <a:solidFill>
                <a:srgbClr val="000000"/>
              </a:solidFill>
            </a:endParaRPr>
          </a:p>
        </p:txBody>
      </p:sp>
      <p:sp>
        <p:nvSpPr>
          <p:cNvPr id="180" name="Google Shape;180;p21"/>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1"/>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pic>
        <p:nvPicPr>
          <p:cNvPr id="182" name="Google Shape;182;p21"/>
          <p:cNvPicPr preferRelativeResize="0"/>
          <p:nvPr/>
        </p:nvPicPr>
        <p:blipFill>
          <a:blip r:embed="rId3">
            <a:alphaModFix/>
          </a:blip>
          <a:stretch>
            <a:fillRect/>
          </a:stretch>
        </p:blipFill>
        <p:spPr>
          <a:xfrm>
            <a:off x="152400" y="911475"/>
            <a:ext cx="4101800" cy="3785450"/>
          </a:xfrm>
          <a:prstGeom prst="rect">
            <a:avLst/>
          </a:prstGeom>
          <a:noFill/>
          <a:ln>
            <a:noFill/>
          </a:ln>
        </p:spPr>
      </p:pic>
      <p:sp>
        <p:nvSpPr>
          <p:cNvPr id="183" name="Google Shape;183;p21"/>
          <p:cNvSpPr txBox="1"/>
          <p:nvPr/>
        </p:nvSpPr>
        <p:spPr>
          <a:xfrm>
            <a:off x="208375" y="4653575"/>
            <a:ext cx="41019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lang="en">
                <a:latin typeface="Century Schoolbook"/>
                <a:ea typeface="Century Schoolbook"/>
                <a:cs typeface="Century Schoolbook"/>
                <a:sym typeface="Century Schoolbook"/>
              </a:rPr>
              <a:t>Interactive Topic modelling visualization (LDA)</a:t>
            </a:r>
            <a:endParaRPr>
              <a:latin typeface="Lato"/>
              <a:ea typeface="Lato"/>
              <a:cs typeface="Lato"/>
              <a:sym typeface="Lato"/>
            </a:endParaRPr>
          </a:p>
        </p:txBody>
      </p:sp>
      <p:pic>
        <p:nvPicPr>
          <p:cNvPr id="184" name="Google Shape;184;p21"/>
          <p:cNvPicPr preferRelativeResize="0"/>
          <p:nvPr/>
        </p:nvPicPr>
        <p:blipFill>
          <a:blip r:embed="rId4">
            <a:alphaModFix/>
          </a:blip>
          <a:stretch>
            <a:fillRect/>
          </a:stretch>
        </p:blipFill>
        <p:spPr>
          <a:xfrm>
            <a:off x="4406600" y="987675"/>
            <a:ext cx="4332911" cy="3572100"/>
          </a:xfrm>
          <a:prstGeom prst="rect">
            <a:avLst/>
          </a:prstGeom>
          <a:noFill/>
          <a:ln>
            <a:noFill/>
          </a:ln>
        </p:spPr>
      </p:pic>
      <p:sp>
        <p:nvSpPr>
          <p:cNvPr id="185" name="Google Shape;185;p21"/>
          <p:cNvSpPr txBox="1"/>
          <p:nvPr/>
        </p:nvSpPr>
        <p:spPr>
          <a:xfrm>
            <a:off x="4637600" y="4653575"/>
            <a:ext cx="41019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lang="en">
                <a:latin typeface="Century Schoolbook"/>
                <a:ea typeface="Century Schoolbook"/>
                <a:cs typeface="Century Schoolbook"/>
                <a:sym typeface="Century Schoolbook"/>
              </a:rPr>
              <a:t>Density plot of Overall VADER compound score</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6500" y="139425"/>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Discussion</a:t>
            </a:r>
            <a:endParaRPr>
              <a:solidFill>
                <a:srgbClr val="000000"/>
              </a:solidFill>
            </a:endParaRPr>
          </a:p>
        </p:txBody>
      </p:sp>
      <p:sp>
        <p:nvSpPr>
          <p:cNvPr id="191" name="Google Shape;191;p22"/>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2" name="Google Shape;192;p22"/>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sp>
        <p:nvSpPr>
          <p:cNvPr id="193" name="Google Shape;193;p22"/>
          <p:cNvSpPr txBox="1"/>
          <p:nvPr/>
        </p:nvSpPr>
        <p:spPr>
          <a:xfrm>
            <a:off x="316500" y="1081575"/>
            <a:ext cx="3997800" cy="367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600">
                <a:latin typeface="Lato"/>
                <a:ea typeface="Lato"/>
                <a:cs typeface="Lato"/>
                <a:sym typeface="Lato"/>
              </a:rPr>
              <a:t>ANALYZING</a:t>
            </a:r>
            <a:r>
              <a:rPr lang="en" sz="1600">
                <a:latin typeface="Lato"/>
                <a:ea typeface="Lato"/>
                <a:cs typeface="Lato"/>
                <a:sym typeface="Lato"/>
              </a:rPr>
              <a:t> NEGATIVE SENTIMENTS</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Elon-musk is the common bi-gram found in the tweets related to electric vehicles. 47.1% of tweets are positive, 42.4% are neutral, and 10.5% are negative as per VADER. SONAR identified critical tweets which were hateful and offensive. These tweets happened during tesla declared non acceptance of bit coin for the purchase of electric vehicles. For further analysis VADER and SONAR sentiment analysis models were built</a:t>
            </a:r>
            <a:endParaRPr sz="1600">
              <a:latin typeface="Lato"/>
              <a:ea typeface="Lato"/>
              <a:cs typeface="Lato"/>
              <a:sym typeface="Lato"/>
            </a:endParaRPr>
          </a:p>
        </p:txBody>
      </p:sp>
      <p:sp>
        <p:nvSpPr>
          <p:cNvPr id="194" name="Google Shape;194;p22"/>
          <p:cNvSpPr txBox="1"/>
          <p:nvPr/>
        </p:nvSpPr>
        <p:spPr>
          <a:xfrm>
            <a:off x="4398538" y="1081575"/>
            <a:ext cx="3997800" cy="336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600">
                <a:latin typeface="Lato"/>
                <a:ea typeface="Lato"/>
                <a:cs typeface="Lato"/>
                <a:sym typeface="Lato"/>
              </a:rPr>
              <a:t>LIMITATIONS OF LDA AND VADER</a:t>
            </a:r>
            <a:endParaRPr sz="1600">
              <a:latin typeface="Lato"/>
              <a:ea typeface="Lato"/>
              <a:cs typeface="Lato"/>
              <a:sym typeface="Lato"/>
            </a:endParaRPr>
          </a:p>
          <a:p>
            <a:pPr indent="0" lvl="0" marL="0" rtl="0" algn="l">
              <a:lnSpc>
                <a:spcPct val="115000"/>
              </a:lnSpc>
              <a:spcBef>
                <a:spcPts val="1000"/>
              </a:spcBef>
              <a:spcAft>
                <a:spcPts val="0"/>
              </a:spcAft>
              <a:buNone/>
            </a:pPr>
            <a:r>
              <a:rPr lang="en" sz="1600">
                <a:latin typeface="Lato"/>
                <a:ea typeface="Lato"/>
                <a:cs typeface="Lato"/>
                <a:sym typeface="Lato"/>
              </a:rPr>
              <a:t>Latent Dirichlet allocation models cannot identify Correlation, Static cannot topics identify over change in time, VADER is not accurate for complex data, does not recognize context, required additional visualization output to understand the results.</a:t>
            </a:r>
            <a:endParaRPr sz="1600">
              <a:latin typeface="Lato"/>
              <a:ea typeface="Lato"/>
              <a:cs typeface="Lato"/>
              <a:sym typeface="Lato"/>
            </a:endParaRPr>
          </a:p>
          <a:p>
            <a:pPr indent="0" lvl="0" marL="0" rtl="0" algn="l">
              <a:lnSpc>
                <a:spcPct val="115000"/>
              </a:lnSpc>
              <a:spcBef>
                <a:spcPts val="1000"/>
              </a:spcBef>
              <a:spcAft>
                <a:spcPts val="0"/>
              </a:spcAft>
              <a:buNone/>
            </a:pPr>
            <a:r>
              <a:t/>
            </a:r>
            <a:endParaRPr sz="1600">
              <a:latin typeface="Lato"/>
              <a:ea typeface="Lato"/>
              <a:cs typeface="Lato"/>
              <a:sym typeface="Lato"/>
            </a:endParaRPr>
          </a:p>
          <a:p>
            <a:pPr indent="0" lvl="0" marL="0" rtl="0" algn="l">
              <a:lnSpc>
                <a:spcPct val="115000"/>
              </a:lnSpc>
              <a:spcBef>
                <a:spcPts val="1000"/>
              </a:spcBef>
              <a:spcAft>
                <a:spcPts val="0"/>
              </a:spcAft>
              <a:buNone/>
            </a:pPr>
            <a:r>
              <a:t/>
            </a:r>
            <a:endParaRPr sz="16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type="title"/>
          </p:nvPr>
        </p:nvSpPr>
        <p:spPr>
          <a:xfrm>
            <a:off x="316450" y="79350"/>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Conclusion</a:t>
            </a:r>
            <a:endParaRPr>
              <a:solidFill>
                <a:srgbClr val="000000"/>
              </a:solidFill>
            </a:endParaRPr>
          </a:p>
        </p:txBody>
      </p:sp>
      <p:sp>
        <p:nvSpPr>
          <p:cNvPr id="200" name="Google Shape;200;p23"/>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23"/>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sp>
        <p:nvSpPr>
          <p:cNvPr id="202" name="Google Shape;202;p23"/>
          <p:cNvSpPr/>
          <p:nvPr/>
        </p:nvSpPr>
        <p:spPr>
          <a:xfrm>
            <a:off x="4807000" y="1105600"/>
            <a:ext cx="3673500" cy="34971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lang="en" sz="2500">
                <a:solidFill>
                  <a:schemeClr val="accent1"/>
                </a:solidFill>
                <a:latin typeface="Lato"/>
                <a:ea typeface="Lato"/>
                <a:cs typeface="Lato"/>
                <a:sym typeface="Lato"/>
              </a:rPr>
              <a:t>My Contribution</a:t>
            </a:r>
            <a:endParaRPr sz="2500">
              <a:solidFill>
                <a:schemeClr val="accent1"/>
              </a:solidFill>
              <a:latin typeface="Lato"/>
              <a:ea typeface="Lato"/>
              <a:cs typeface="Lato"/>
              <a:sym typeface="Lato"/>
            </a:endParaRPr>
          </a:p>
          <a:p>
            <a:pPr indent="0" lvl="0" marL="457200" rtl="0" algn="l">
              <a:spcBef>
                <a:spcPts val="0"/>
              </a:spcBef>
              <a:spcAft>
                <a:spcPts val="0"/>
              </a:spcAft>
              <a:buNone/>
            </a:pPr>
            <a:r>
              <a:t/>
            </a:r>
            <a:endParaRPr sz="2500">
              <a:solidFill>
                <a:schemeClr val="accent1"/>
              </a:solidFill>
              <a:latin typeface="Lato"/>
              <a:ea typeface="Lato"/>
              <a:cs typeface="Lato"/>
              <a:sym typeface="Lato"/>
            </a:endParaRPr>
          </a:p>
          <a:p>
            <a:pPr indent="0" lvl="0" marL="0" rtl="0" algn="l">
              <a:spcBef>
                <a:spcPts val="0"/>
              </a:spcBef>
              <a:spcAft>
                <a:spcPts val="0"/>
              </a:spcAft>
              <a:buNone/>
            </a:pPr>
            <a:r>
              <a:rPr lang="en" sz="1700">
                <a:latin typeface="Lato"/>
                <a:ea typeface="Lato"/>
                <a:cs typeface="Lato"/>
                <a:sym typeface="Lato"/>
              </a:rPr>
              <a:t>My crucial contribution in this project is to implement topic modeling to identify key topics, visualization using LDA, bi-grams, word cloud,</a:t>
            </a:r>
            <a:endParaRPr sz="1700">
              <a:latin typeface="Lato"/>
              <a:ea typeface="Lato"/>
              <a:cs typeface="Lato"/>
              <a:sym typeface="Lato"/>
            </a:endParaRPr>
          </a:p>
          <a:p>
            <a:pPr indent="0" lvl="0" marL="0" rtl="0" algn="l">
              <a:spcBef>
                <a:spcPts val="0"/>
              </a:spcBef>
              <a:spcAft>
                <a:spcPts val="0"/>
              </a:spcAft>
              <a:buNone/>
            </a:pPr>
            <a:r>
              <a:rPr lang="en" sz="1700">
                <a:latin typeface="Lato"/>
                <a:ea typeface="Lato"/>
                <a:cs typeface="Lato"/>
                <a:sym typeface="Lato"/>
              </a:rPr>
              <a:t>dominant topics, VADER sentiment, and SONAR which will help in the future sentiment towards electric vehicles in India.</a:t>
            </a:r>
            <a:endParaRPr sz="1700">
              <a:latin typeface="Lato"/>
              <a:ea typeface="Lato"/>
              <a:cs typeface="Lato"/>
              <a:sym typeface="Lato"/>
            </a:endParaRPr>
          </a:p>
          <a:p>
            <a:pPr indent="0" lvl="0" marL="0" rtl="0" algn="l">
              <a:spcBef>
                <a:spcPts val="0"/>
              </a:spcBef>
              <a:spcAft>
                <a:spcPts val="0"/>
              </a:spcAft>
              <a:buNone/>
            </a:pPr>
            <a:r>
              <a:t/>
            </a:r>
            <a:endParaRPr sz="1700">
              <a:latin typeface="Lato"/>
              <a:ea typeface="Lato"/>
              <a:cs typeface="Lato"/>
              <a:sym typeface="Lato"/>
            </a:endParaRPr>
          </a:p>
        </p:txBody>
      </p:sp>
      <p:sp>
        <p:nvSpPr>
          <p:cNvPr id="203" name="Google Shape;203;p23"/>
          <p:cNvSpPr/>
          <p:nvPr/>
        </p:nvSpPr>
        <p:spPr>
          <a:xfrm>
            <a:off x="316450" y="1177700"/>
            <a:ext cx="3311100" cy="3184800"/>
          </a:xfrm>
          <a:prstGeom prst="roundRect">
            <a:avLst>
              <a:gd fmla="val 16667" name="adj"/>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accent3"/>
                </a:solidFill>
                <a:latin typeface="Lato"/>
                <a:ea typeface="Lato"/>
                <a:cs typeface="Lato"/>
                <a:sym typeface="Lato"/>
              </a:rPr>
              <a:t>Inference</a:t>
            </a:r>
            <a:endParaRPr sz="1600">
              <a:latin typeface="Lato"/>
              <a:ea typeface="Lato"/>
              <a:cs typeface="Lato"/>
              <a:sym typeface="Lato"/>
            </a:endParaRPr>
          </a:p>
          <a:p>
            <a:pPr indent="0" lvl="0" marL="457200" rtl="0" algn="l">
              <a:spcBef>
                <a:spcPts val="1000"/>
              </a:spcBef>
              <a:spcAft>
                <a:spcPts val="1000"/>
              </a:spcAft>
              <a:buNone/>
            </a:pPr>
            <a:r>
              <a:rPr lang="en" sz="1600">
                <a:latin typeface="Lato"/>
                <a:ea typeface="Lato"/>
                <a:cs typeface="Lato"/>
                <a:sym typeface="Lato"/>
              </a:rPr>
              <a:t>According to social media discussion concerning electric vehicles, there is a growing sentiment of trust and positive sentiment indicating that electric vehicles will be more widely accepted in the near future.</a:t>
            </a:r>
            <a:endParaRPr sz="16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4"/>
          <p:cNvSpPr txBox="1"/>
          <p:nvPr>
            <p:ph type="title"/>
          </p:nvPr>
        </p:nvSpPr>
        <p:spPr>
          <a:xfrm>
            <a:off x="316450" y="79350"/>
            <a:ext cx="8827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rPr>
              <a:t>Future Work</a:t>
            </a:r>
            <a:endParaRPr>
              <a:solidFill>
                <a:srgbClr val="000000"/>
              </a:solidFill>
            </a:endParaRPr>
          </a:p>
        </p:txBody>
      </p:sp>
      <p:sp>
        <p:nvSpPr>
          <p:cNvPr id="209" name="Google Shape;209;p24"/>
          <p:cNvSpPr txBox="1"/>
          <p:nvPr>
            <p:ph idx="12" type="sldNum"/>
          </p:nvPr>
        </p:nvSpPr>
        <p:spPr>
          <a:xfrm>
            <a:off x="8480575" y="4696933"/>
            <a:ext cx="548700" cy="313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24"/>
          <p:cNvSpPr txBox="1"/>
          <p:nvPr/>
        </p:nvSpPr>
        <p:spPr>
          <a:xfrm>
            <a:off x="5906300" y="-174350"/>
            <a:ext cx="34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t/>
            </a:r>
            <a:endParaRPr/>
          </a:p>
        </p:txBody>
      </p:sp>
      <p:sp>
        <p:nvSpPr>
          <p:cNvPr id="211" name="Google Shape;211;p24"/>
          <p:cNvSpPr txBox="1"/>
          <p:nvPr/>
        </p:nvSpPr>
        <p:spPr>
          <a:xfrm>
            <a:off x="384550" y="1081575"/>
            <a:ext cx="8184000" cy="124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600">
                <a:latin typeface="Lato"/>
                <a:ea typeface="Lato"/>
                <a:cs typeface="Lato"/>
                <a:sym typeface="Lato"/>
              </a:rPr>
              <a:t>For the future scope, I continue to work on dynamic topic modeling concerning time and introduce multiple NLP classifiers to understand the accuracy of sentiment predicted along with VADER and SONAR. </a:t>
            </a:r>
            <a:endParaRPr sz="1600">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5"/>
          <p:cNvSpPr txBox="1"/>
          <p:nvPr>
            <p:ph type="ctrTitle"/>
          </p:nvPr>
        </p:nvSpPr>
        <p:spPr>
          <a:xfrm>
            <a:off x="685800" y="1583342"/>
            <a:ext cx="77724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217" name="Google Shape;217;p25"/>
          <p:cNvSpPr txBox="1"/>
          <p:nvPr>
            <p:ph idx="1" type="subTitle"/>
          </p:nvPr>
        </p:nvSpPr>
        <p:spPr>
          <a:xfrm>
            <a:off x="685800" y="2840053"/>
            <a:ext cx="7772400" cy="7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 are open to any questions</a:t>
            </a:r>
            <a:endParaRPr/>
          </a:p>
        </p:txBody>
      </p:sp>
      <p:sp>
        <p:nvSpPr>
          <p:cNvPr id="218" name="Google Shape;218;p25"/>
          <p:cNvSpPr txBox="1"/>
          <p:nvPr>
            <p:ph idx="12" type="sldNum"/>
          </p:nvPr>
        </p:nvSpPr>
        <p:spPr>
          <a:xfrm>
            <a:off x="-125" y="4830281"/>
            <a:ext cx="9144000" cy="31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