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Barlow" panose="00000500000000000000" pitchFamily="2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07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journals.sagepub.com/doi/10.1177/23197145231167703" TargetMode="External"/><Relationship Id="rId3" Type="http://schemas.openxmlformats.org/officeDocument/2006/relationships/hyperlink" Target="https://www.reddit.com/r/developersIndia/comments/1isg24v/frustrated_with_work_at_a_medium_paced_fintech_is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moneycontrol.com/news/trends/features/rash-decisions-insecurity-and-burnout-the-dark-side-of-indias-startup-funding-boom-7753941.html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oneycontrol.com/news/business/startup/exclusive-saas-startups-struggle-with-high-attrition-due-to-wfh-funding-boom-7929541.html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economictimes.indiatimes.com/tech/startups/startups-to-cut-costs-further-as-funding-winter-may-last-a-year/articleshow/97661597.cms" TargetMode="Externa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indiatoday.in/business/story/byjus-financial-fraud-corporate-governance-lapses-government-investigation-report-2558223-2024-06-26" TargetMode="External"/><Relationship Id="rId4" Type="http://schemas.openxmlformats.org/officeDocument/2006/relationships/hyperlink" Target="https://bricxlabs.com/blogs/saas-onboarding-examples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hyperlink" Target="https://confengine.com/conferences/agile-india-2022/proposal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98372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955608"/>
            <a:ext cx="7415927" cy="164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One Inefficiency No One Talks About in Indian Startups – </a:t>
            </a:r>
          </a:p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Knowledge Mismanagement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350437" y="4878824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by Vidhu Jha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142" y="378500"/>
            <a:ext cx="4500801" cy="45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u="sng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Silent Productivity Tax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48163" y="1143596"/>
            <a:ext cx="13489067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Indian startups lose $1.5B annually (McKinsey’s "India’s Tech Ecosystem: Growth and Challenges", 2023) due to an invisible inefficiency no pitch deck mentions: poor knowledge management (KM).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163" y="1722597"/>
            <a:ext cx="13489067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obsess over ‘</a:t>
            </a:r>
            <a:r>
              <a:rPr lang="en-US" sz="1400" dirty="0">
                <a:solidFill>
                  <a:srgbClr val="E0E4E6"/>
                </a:solidFill>
                <a:latin typeface="Spline Sans Bold"/>
                <a:ea typeface="Barlow" pitchFamily="34" charset="-122"/>
                <a:cs typeface="Barlow" pitchFamily="34" charset="-120"/>
              </a:rPr>
              <a:t>burn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rates’ and ‘attrition,’ but ignore the 20-30% productivity drain (NASSCOM Survey, 2023) caused by loss of tribal knowledge and undocumented decisions.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163" y="2040613"/>
            <a:ext cx="13489067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isn’t an ‘ops problem’ - it’s an existential risk. Startups that systemize knowledge scale faster, while others bleed capital relearning old lessons.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163" y="2358629"/>
            <a:ext cx="13489067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Example: Razorpay’s Engineering team, in 2023, launched their AI-powered internal wiki “</a:t>
            </a:r>
            <a:r>
              <a:rPr lang="en-US" sz="140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RazorDocs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”,</a:t>
            </a:r>
            <a:b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</a:b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leading to: (i) Reduction in onboarding time by 65% </a:t>
            </a:r>
            <a:b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</a:b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	        (ii) Search time for critical info dropped from 35 mins to &lt;5 mins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0747" y="3647122"/>
            <a:ext cx="12996785" cy="73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do we celebrate ‘hustle’ but penalize documentation — the very habit</a:t>
            </a:r>
          </a:p>
          <a:p>
            <a:pPr marL="0" indent="0" algn="ctr">
              <a:lnSpc>
                <a:spcPts val="2100"/>
              </a:lnSpc>
              <a:buNone/>
            </a:pPr>
            <a:r>
              <a:rPr lang="en-US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that separates startups from scalable enterprises?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70667" y="4618792"/>
            <a:ext cx="2248138" cy="911185"/>
          </a:xfrm>
          <a:prstGeom prst="roundRect">
            <a:avLst>
              <a:gd name="adj" fmla="val 26842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0078" y="4931093"/>
            <a:ext cx="229195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81801" y="4781788"/>
            <a:ext cx="1914168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Tribal Knowledge Loss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81801" y="5105995"/>
            <a:ext cx="3253026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- undocumented decisions, repeated mistakes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00243" y="5520452"/>
            <a:ext cx="11078051" cy="11430"/>
          </a:xfrm>
          <a:prstGeom prst="roundRect">
            <a:avLst>
              <a:gd name="adj" fmla="val 2139848"/>
            </a:avLst>
          </a:prstGeom>
          <a:solidFill>
            <a:srgbClr val="16FFBB"/>
          </a:solidFill>
          <a:ln/>
        </p:spPr>
      </p:sp>
      <p:sp>
        <p:nvSpPr>
          <p:cNvPr id="14" name="Shape 12"/>
          <p:cNvSpPr/>
          <p:nvPr/>
        </p:nvSpPr>
        <p:spPr>
          <a:xfrm>
            <a:off x="570667" y="5611416"/>
            <a:ext cx="4496276" cy="911185"/>
          </a:xfrm>
          <a:prstGeom prst="roundRect">
            <a:avLst>
              <a:gd name="adj" fmla="val 26842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4148" y="5923717"/>
            <a:ext cx="229195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29939" y="5774412"/>
            <a:ext cx="2062758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Operational Inefficiency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29939" y="6098619"/>
            <a:ext cx="3633073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- delayed execution, misalignment, poor onboarding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48382" y="6513076"/>
            <a:ext cx="8829913" cy="11430"/>
          </a:xfrm>
          <a:prstGeom prst="roundRect">
            <a:avLst>
              <a:gd name="adj" fmla="val 2139848"/>
            </a:avLst>
          </a:prstGeom>
          <a:solidFill>
            <a:srgbClr val="29DDDA"/>
          </a:solidFill>
          <a:ln/>
        </p:spPr>
      </p:sp>
      <p:sp>
        <p:nvSpPr>
          <p:cNvPr id="19" name="Shape 17"/>
          <p:cNvSpPr/>
          <p:nvPr/>
        </p:nvSpPr>
        <p:spPr>
          <a:xfrm>
            <a:off x="570667" y="6604040"/>
            <a:ext cx="6744533" cy="911185"/>
          </a:xfrm>
          <a:prstGeom prst="roundRect">
            <a:avLst>
              <a:gd name="adj" fmla="val 26842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8336" y="6916341"/>
            <a:ext cx="229195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78197" y="6767036"/>
            <a:ext cx="1811655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Rework Costs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78197" y="7091243"/>
            <a:ext cx="3150037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- capital bleed, repeated efforts, slow scaling</a:t>
            </a:r>
            <a:endParaRPr lang="en-US" sz="13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F118DEB-6D28-684E-A938-6EF1B34E66ED}"/>
              </a:ext>
            </a:extLst>
          </p:cNvPr>
          <p:cNvSpPr/>
          <p:nvPr/>
        </p:nvSpPr>
        <p:spPr>
          <a:xfrm>
            <a:off x="2592594" y="3396735"/>
            <a:ext cx="9391426" cy="1068585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2562" y="386953"/>
            <a:ext cx="4287560" cy="39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50" b="1" u="sng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How KM gaps wreck startups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492562" y="1217533"/>
            <a:ext cx="13645277" cy="15240"/>
          </a:xfrm>
          <a:prstGeom prst="roundRect">
            <a:avLst>
              <a:gd name="adj" fmla="val 1385172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00338" y="1217474"/>
            <a:ext cx="15240" cy="422196"/>
          </a:xfrm>
          <a:prstGeom prst="roundRect">
            <a:avLst>
              <a:gd name="adj" fmla="val 1385172"/>
            </a:avLst>
          </a:prstGeom>
          <a:solidFill>
            <a:srgbClr val="16FFBB"/>
          </a:solidFill>
          <a:ln/>
        </p:spPr>
      </p:sp>
      <p:sp>
        <p:nvSpPr>
          <p:cNvPr id="5" name="Shape 3"/>
          <p:cNvSpPr/>
          <p:nvPr/>
        </p:nvSpPr>
        <p:spPr>
          <a:xfrm>
            <a:off x="2549723" y="1059240"/>
            <a:ext cx="316587" cy="316587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14136" y="1144618"/>
            <a:ext cx="187643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926312" y="1780461"/>
            <a:ext cx="1563648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Tech Debt Explosion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3293" y="2060258"/>
            <a:ext cx="4149685" cy="900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Especially seen across mid-sized </a:t>
            </a:r>
            <a:r>
              <a:rPr lang="en-US" sz="1400" u="sng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Indian fintech firms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where "extreme deadlines" and "no time to address tech‑debt" lead to messy sprints and repeated fix cycles. No backlog grooming, no specs, no code ownership—just continual firefighting.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07342" y="1217474"/>
            <a:ext cx="15240" cy="422196"/>
          </a:xfrm>
          <a:prstGeom prst="roundRect">
            <a:avLst>
              <a:gd name="adj" fmla="val 1385172"/>
            </a:avLst>
          </a:prstGeom>
          <a:solidFill>
            <a:srgbClr val="29DDDA"/>
          </a:solidFill>
          <a:ln/>
        </p:spPr>
      </p:sp>
      <p:sp>
        <p:nvSpPr>
          <p:cNvPr id="10" name="Shape 8"/>
          <p:cNvSpPr/>
          <p:nvPr/>
        </p:nvSpPr>
        <p:spPr>
          <a:xfrm>
            <a:off x="7156728" y="1059240"/>
            <a:ext cx="316587" cy="316587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1141" y="1142665"/>
            <a:ext cx="187643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33317" y="1780461"/>
            <a:ext cx="1563648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Attrition Chaos 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40298" y="2060258"/>
            <a:ext cx="4149685" cy="900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Indian IT-BPM industry, with attrition hitting 30%–40%, directly links staff turnover to lost institutional memory, project delays, and lower client satisfaction—a direct reflection of knowledge management failure.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914346" y="1217474"/>
            <a:ext cx="15240" cy="422196"/>
          </a:xfrm>
          <a:prstGeom prst="roundRect">
            <a:avLst>
              <a:gd name="adj" fmla="val 1385172"/>
            </a:avLst>
          </a:prstGeom>
          <a:solidFill>
            <a:srgbClr val="37A7E7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63732" y="1059240"/>
            <a:ext cx="316587" cy="316587"/>
          </a:xfrm>
          <a:prstGeom prst="roundRect">
            <a:avLst>
              <a:gd name="adj" fmla="val 66680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28145" y="1143255"/>
            <a:ext cx="187643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140321" y="1780461"/>
            <a:ext cx="1563648" cy="195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Investor Distrust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47302" y="2060258"/>
            <a:ext cx="4149685" cy="900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 </a:t>
            </a:r>
            <a:r>
              <a:rPr lang="en-US" sz="1400" u="sng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Infra.market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fraud slipped in through poorly documented financial oversight. One city head inflated rental expenses, and inventory teams earned off hidden commissions; investors had no visibility, pulling funding only after the damage surfaced.</a:t>
            </a:r>
            <a:endParaRPr lang="en-US" sz="1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776" y="3473347"/>
            <a:ext cx="3172183" cy="2850062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1100" y="3473347"/>
            <a:ext cx="3342963" cy="2843186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3495" y="3473347"/>
            <a:ext cx="3172182" cy="278546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84237" y="5480090"/>
            <a:ext cx="4068604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50676" y="6683784"/>
            <a:ext cx="13645277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u="sng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from IMI Kolkata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shows that firms with stronger R&amp;D and ICT capabilities report significantly better innovation outcomes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50676" y="7078087"/>
            <a:ext cx="13645277" cy="45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Documenting and retaining knowledge isn't just a process issue — it fundamentally underpins the ability to conduct meaningful R&amp;D. Without robust knowledge systems, startups fail to innovate, duplicating work, and reinforcing a cycle of underinvestment in true innovation.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4355" y="561975"/>
            <a:ext cx="8066365" cy="440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850" b="1" u="sng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KM Gaps Persist</a:t>
            </a:r>
            <a:r>
              <a:rPr lang="en-US" sz="2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(The Founder Mindset Trap)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732473" y="1417677"/>
            <a:ext cx="22860" cy="4961096"/>
          </a:xfrm>
          <a:prstGeom prst="roundRect">
            <a:avLst>
              <a:gd name="adj" fmla="val 1039432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7790" y="1584365"/>
            <a:ext cx="475178" cy="22860"/>
          </a:xfrm>
          <a:prstGeom prst="roundRect">
            <a:avLst>
              <a:gd name="adj" fmla="val 1039432"/>
            </a:avLst>
          </a:prstGeom>
          <a:solidFill>
            <a:srgbClr val="16FFBB"/>
          </a:solidFill>
          <a:ln/>
        </p:spPr>
      </p:sp>
      <p:sp>
        <p:nvSpPr>
          <p:cNvPr id="5" name="Shape 3"/>
          <p:cNvSpPr/>
          <p:nvPr/>
        </p:nvSpPr>
        <p:spPr>
          <a:xfrm>
            <a:off x="554295" y="1417677"/>
            <a:ext cx="356354" cy="356354"/>
          </a:xfrm>
          <a:prstGeom prst="roundRect">
            <a:avLst>
              <a:gd name="adj" fmla="val 66679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64" y="1463814"/>
            <a:ext cx="211098" cy="26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4595" y="1472089"/>
            <a:ext cx="3501628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Funding pressure pushes short-term gains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24595" y="1850350"/>
            <a:ext cx="6988135" cy="50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Under capital strain, founders chase burn rate and feature velocity, sidelining sustainable documentation. (</a:t>
            </a:r>
            <a:r>
              <a:rPr lang="en-US" sz="1400" u="sng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Economic Times, 2023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87790" y="2840474"/>
            <a:ext cx="475178" cy="22860"/>
          </a:xfrm>
          <a:prstGeom prst="roundRect">
            <a:avLst>
              <a:gd name="adj" fmla="val 1039432"/>
            </a:avLst>
          </a:prstGeom>
          <a:solidFill>
            <a:srgbClr val="29DDDA"/>
          </a:solidFill>
          <a:ln/>
        </p:spPr>
      </p:sp>
      <p:sp>
        <p:nvSpPr>
          <p:cNvPr id="10" name="Shape 7"/>
          <p:cNvSpPr/>
          <p:nvPr/>
        </p:nvSpPr>
        <p:spPr>
          <a:xfrm>
            <a:off x="554295" y="2673787"/>
            <a:ext cx="356354" cy="356354"/>
          </a:xfrm>
          <a:prstGeom prst="roundRect">
            <a:avLst>
              <a:gd name="adj" fmla="val 66679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64" y="2719923"/>
            <a:ext cx="211098" cy="26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24595" y="2728198"/>
            <a:ext cx="1760101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Fear of transparency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24595" y="3106460"/>
            <a:ext cx="6988135" cy="76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Founders hoard knowledge to retain power, often avoiding transparency and documentation to centralize decision-making. This lack of shared systems fosters dependency and hinders scaling, discouraging even proactive employees from documentation.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87790" y="4349948"/>
            <a:ext cx="475178" cy="22860"/>
          </a:xfrm>
          <a:prstGeom prst="roundRect">
            <a:avLst>
              <a:gd name="adj" fmla="val 1039432"/>
            </a:avLst>
          </a:prstGeom>
          <a:solidFill>
            <a:srgbClr val="37A7E7"/>
          </a:solidFill>
          <a:ln/>
        </p:spPr>
      </p:sp>
      <p:sp>
        <p:nvSpPr>
          <p:cNvPr id="15" name="Shape 11"/>
          <p:cNvSpPr/>
          <p:nvPr/>
        </p:nvSpPr>
        <p:spPr>
          <a:xfrm>
            <a:off x="554295" y="4183261"/>
            <a:ext cx="356354" cy="356354"/>
          </a:xfrm>
          <a:prstGeom prst="roundRect">
            <a:avLst>
              <a:gd name="adj" fmla="val 66679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864" y="4229398"/>
            <a:ext cx="211098" cy="263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24595" y="4237673"/>
            <a:ext cx="3488769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Founders undervalue information systems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24595" y="4615934"/>
            <a:ext cx="6988135" cy="50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Startup leaders often view KM as admin overhead and not as a strategic asset, and resist implementing platforms like Notion or Confluence, citing time constraints or lack of awareness.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87790" y="5606058"/>
            <a:ext cx="475178" cy="22860"/>
          </a:xfrm>
          <a:prstGeom prst="roundRect">
            <a:avLst>
              <a:gd name="adj" fmla="val 1039432"/>
            </a:avLst>
          </a:prstGeom>
          <a:solidFill>
            <a:srgbClr val="AFCBF8"/>
          </a:solidFill>
          <a:ln/>
        </p:spPr>
      </p:sp>
      <p:sp>
        <p:nvSpPr>
          <p:cNvPr id="20" name="Shape 15"/>
          <p:cNvSpPr/>
          <p:nvPr/>
        </p:nvSpPr>
        <p:spPr>
          <a:xfrm>
            <a:off x="554295" y="5439370"/>
            <a:ext cx="356354" cy="356354"/>
          </a:xfrm>
          <a:prstGeom prst="roundRect">
            <a:avLst>
              <a:gd name="adj" fmla="val 66679"/>
            </a:avLst>
          </a:prstGeom>
          <a:solidFill>
            <a:srgbClr val="0A081B"/>
          </a:solidFill>
          <a:ln w="15240">
            <a:solidFill>
              <a:srgbClr val="AFCBF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864" y="5485507"/>
            <a:ext cx="211098" cy="263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24595" y="5493782"/>
            <a:ext cx="3903464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High attrition is used to justify not documenting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524595" y="5872043"/>
            <a:ext cx="6988135" cy="50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With </a:t>
            </a:r>
            <a:r>
              <a:rPr lang="en-US" sz="1400" u="sng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startup attrition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skyrocketing—often 50–80%, and 30–40% in SaaS, every exit erases knowledge; each hiring cycle forces new hires to relearn processes.</a:t>
            </a:r>
            <a:endParaRPr lang="en-US" sz="14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3996" y="1850350"/>
            <a:ext cx="5339903" cy="2771865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136434" y="5321798"/>
            <a:ext cx="4736544" cy="932498"/>
          </a:xfrm>
          <a:prstGeom prst="roundRect">
            <a:avLst>
              <a:gd name="adj" fmla="val 2548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184466" y="5337095"/>
            <a:ext cx="4687757" cy="4586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9342820" y="5439727"/>
            <a:ext cx="642640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Before: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0147087" y="5439727"/>
            <a:ext cx="3501628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 Attrition → Lost Knowledge → Inefficiency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9184466" y="5795724"/>
            <a:ext cx="4687757" cy="4586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9342820" y="5898356"/>
            <a:ext cx="642640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After: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147087" y="5898356"/>
            <a:ext cx="3501628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Strong KM → Retained Knowledge → Faster Scaling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7924" y="669608"/>
            <a:ext cx="6241018" cy="426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850" b="1" u="sng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Fix: How Top 1% Startups Crack KM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454" y="1729919"/>
            <a:ext cx="4805812" cy="325811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7924" y="1576209"/>
            <a:ext cx="6719649" cy="153710"/>
          </a:xfrm>
          <a:prstGeom prst="roundRect">
            <a:avLst>
              <a:gd name="adj" fmla="val 150008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1634" y="1883628"/>
            <a:ext cx="2323743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Structured KM in onboarding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91634" y="2189261"/>
            <a:ext cx="6412230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Startups that embed structured documentation into onboarding processes </a:t>
            </a:r>
            <a:r>
              <a:rPr lang="en-US" sz="1400" u="sng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reduce ramp-up time by 30–50%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significantly improving employee satisfaction and retention. Notion’s Indian-focused onboarding templates are credited with a 40% faster completion rate.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7924" y="3739068"/>
            <a:ext cx="6719649" cy="153710"/>
          </a:xfrm>
          <a:prstGeom prst="roundRect">
            <a:avLst>
              <a:gd name="adj" fmla="val 150008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1634" y="4046487"/>
            <a:ext cx="2190631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Centralized documentation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91634" y="4352120"/>
            <a:ext cx="6412230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Boosts Innovation: Top startups use Notion, ClickUp, or Confluence to store insights, enabling faster iteration cycles. </a:t>
            </a:r>
            <a:b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</a:b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Example - Indian Deep-Tech startups investing in structured R&amp;D documentation see higher patent filings, boosting innovation (see pic).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37924" y="5825072"/>
            <a:ext cx="6719649" cy="153710"/>
          </a:xfrm>
          <a:prstGeom prst="roundRect">
            <a:avLst>
              <a:gd name="adj" fmla="val 150008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1634" y="6132491"/>
            <a:ext cx="2429232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Clear financial documentation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1634" y="6438125"/>
            <a:ext cx="6412230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Strengthens Investor Confidence: Investors favor startups with clear documentation of financials, reducing risk perception. </a:t>
            </a:r>
            <a:b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</a:b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Example - Poor KM led to </a:t>
            </a:r>
            <a:r>
              <a:rPr lang="en-US" sz="1400" u="sng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BYJU’s financial mismanagement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causing auditor resignations and investor distrust.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526538" y="5825072"/>
            <a:ext cx="6719649" cy="153710"/>
          </a:xfrm>
          <a:prstGeom prst="roundRect">
            <a:avLst>
              <a:gd name="adj" fmla="val 150008"/>
            </a:avLst>
          </a:prstGeom>
          <a:solidFill>
            <a:srgbClr val="0A081B"/>
          </a:solidFill>
          <a:ln w="15240">
            <a:solidFill>
              <a:srgbClr val="7030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15541" y="6169297"/>
            <a:ext cx="1707952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Efficient workflows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715541" y="6499681"/>
            <a:ext cx="6412230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Superior Unit Economics: Well-documented workflows reduce decision-making time, improving cost efficiency. Structured KM prevents scaling bottlenecks, ensuring consistent growth, higher valuations and smoother IPOs.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969" y="367973"/>
            <a:ext cx="10013394" cy="583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u="sng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Call to Action: Proposing Actionable Solutions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735569" y="1314586"/>
            <a:ext cx="472797" cy="472797"/>
          </a:xfrm>
          <a:prstGeom prst="roundRect">
            <a:avLst>
              <a:gd name="adj" fmla="val 66682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31" y="1375784"/>
            <a:ext cx="280154" cy="3502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8512" y="1386738"/>
            <a:ext cx="2435662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u="sng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Start doc culture early</a:t>
            </a:r>
            <a:endParaRPr lang="en-US" sz="1800" u="sng" dirty="0"/>
          </a:p>
        </p:txBody>
      </p:sp>
      <p:sp>
        <p:nvSpPr>
          <p:cNvPr id="6" name="Text 3"/>
          <p:cNvSpPr/>
          <p:nvPr/>
        </p:nvSpPr>
        <p:spPr>
          <a:xfrm>
            <a:off x="1418512" y="1804647"/>
            <a:ext cx="6509874" cy="100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Notion, ClickUp, or Confluence to centralize knowledge, ensuring easy access to past decisions, SOPs, and technical documentation.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04971" y="2929430"/>
            <a:ext cx="472797" cy="472797"/>
          </a:xfrm>
          <a:prstGeom prst="roundRect">
            <a:avLst>
              <a:gd name="adj" fmla="val 66682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33" y="2990628"/>
            <a:ext cx="280154" cy="3502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7913" y="3001582"/>
            <a:ext cx="545877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u="sng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Follow Standard Operating Procedures for scaling</a:t>
            </a:r>
            <a:endParaRPr lang="en-US" sz="1800" u="sng" dirty="0"/>
          </a:p>
        </p:txBody>
      </p:sp>
      <p:sp>
        <p:nvSpPr>
          <p:cNvPr id="10" name="Text 6"/>
          <p:cNvSpPr/>
          <p:nvPr/>
        </p:nvSpPr>
        <p:spPr>
          <a:xfrm>
            <a:off x="1387913" y="3419491"/>
            <a:ext cx="6509874" cy="1344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NASSCOM recommends SOPs for hiring, onboarding, and decision-making to ensure consistency and efficiency, as startups with structured SOPs reduce onboarding time by 30-50%, improving retention.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704970" y="4910630"/>
            <a:ext cx="472797" cy="472797"/>
          </a:xfrm>
          <a:prstGeom prst="roundRect">
            <a:avLst>
              <a:gd name="adj" fmla="val 66682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32" y="4971828"/>
            <a:ext cx="280154" cy="3502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7913" y="4982782"/>
            <a:ext cx="329969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u="sng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Internal wiki/cross-team docs</a:t>
            </a:r>
            <a:endParaRPr lang="en-US" sz="1800" u="sng" dirty="0"/>
          </a:p>
        </p:txBody>
      </p:sp>
      <p:sp>
        <p:nvSpPr>
          <p:cNvPr id="14" name="Text 9"/>
          <p:cNvSpPr/>
          <p:nvPr/>
        </p:nvSpPr>
        <p:spPr>
          <a:xfrm>
            <a:off x="1387913" y="5400691"/>
            <a:ext cx="6509874" cy="100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Companies like Zoho host weekly "Team Knowledge Circles" where newly documented processes get consolidated through group discussions, reducing tribal knowledge loss.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704969" y="6592084"/>
            <a:ext cx="472797" cy="472797"/>
          </a:xfrm>
          <a:prstGeom prst="roundRect">
            <a:avLst>
              <a:gd name="adj" fmla="val 66682"/>
            </a:avLst>
          </a:prstGeom>
          <a:solidFill>
            <a:srgbClr val="0A081B"/>
          </a:solidFill>
          <a:ln w="22860">
            <a:solidFill>
              <a:srgbClr val="AFCBF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231" y="6653282"/>
            <a:ext cx="280154" cy="35028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87911" y="6664236"/>
            <a:ext cx="3509248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u="sng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CI/CD for Engineering efficiency</a:t>
            </a:r>
            <a:endParaRPr lang="en-US" sz="1800" u="sng" dirty="0"/>
          </a:p>
        </p:txBody>
      </p:sp>
      <p:sp>
        <p:nvSpPr>
          <p:cNvPr id="18" name="Text 12"/>
          <p:cNvSpPr/>
          <p:nvPr/>
        </p:nvSpPr>
        <p:spPr>
          <a:xfrm>
            <a:off x="1387911" y="7082145"/>
            <a:ext cx="5927289" cy="100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DevOps practitioners from </a:t>
            </a:r>
            <a:r>
              <a:rPr lang="en-US" sz="1650" u="sng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Agile India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advocate using CI/CD for “feature toggles” and auto-releasing system workflows—combining code and docs in the same release thread.</a:t>
            </a:r>
            <a:endParaRPr lang="en-US" sz="165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9670124-59AC-DAFF-4FE9-8AB3135CD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6647" y="2813345"/>
            <a:ext cx="5230059" cy="287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D7B9C26-0193-61A2-B3A3-9F428E1E0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6278" y="387333"/>
            <a:ext cx="4283285" cy="197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Shape 13">
            <a:extLst>
              <a:ext uri="{FF2B5EF4-FFF2-40B4-BE49-F238E27FC236}">
                <a16:creationId xmlns:a16="http://schemas.microsoft.com/office/drawing/2014/main" id="{BD3CA1B7-4CD1-EC0E-BB45-A3CEB672A0E4}"/>
              </a:ext>
            </a:extLst>
          </p:cNvPr>
          <p:cNvSpPr/>
          <p:nvPr/>
        </p:nvSpPr>
        <p:spPr>
          <a:xfrm>
            <a:off x="7555006" y="6034044"/>
            <a:ext cx="6958385" cy="1894999"/>
          </a:xfrm>
          <a:prstGeom prst="roundRect">
            <a:avLst>
              <a:gd name="adj" fmla="val 1663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50C82ED1-8D3A-B23A-B609-AFA640053900}"/>
              </a:ext>
            </a:extLst>
          </p:cNvPr>
          <p:cNvSpPr/>
          <p:nvPr/>
        </p:nvSpPr>
        <p:spPr>
          <a:xfrm>
            <a:off x="7562627" y="6041664"/>
            <a:ext cx="6950764" cy="9398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279226EA-CD80-A590-015A-7880D72CD93C}"/>
              </a:ext>
            </a:extLst>
          </p:cNvPr>
          <p:cNvSpPr/>
          <p:nvPr/>
        </p:nvSpPr>
        <p:spPr>
          <a:xfrm>
            <a:off x="7772772" y="6175371"/>
            <a:ext cx="2900840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Before KM Adoption:</a:t>
            </a:r>
            <a:endParaRPr lang="en-US" sz="1650" dirty="0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A64A8B89-15A5-858D-AC05-AB1B49EB0009}"/>
              </a:ext>
            </a:extLst>
          </p:cNvPr>
          <p:cNvSpPr/>
          <p:nvPr/>
        </p:nvSpPr>
        <p:spPr>
          <a:xfrm>
            <a:off x="10571786" y="6122031"/>
            <a:ext cx="3608117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Disorganized documentation → Repeated mistakes → Slow onboarding</a:t>
            </a:r>
            <a:endParaRPr lang="en-US" sz="165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099F310A-D377-C3AC-36D9-0E448FB5025E}"/>
              </a:ext>
            </a:extLst>
          </p:cNvPr>
          <p:cNvSpPr/>
          <p:nvPr/>
        </p:nvSpPr>
        <p:spPr>
          <a:xfrm>
            <a:off x="7562627" y="6981543"/>
            <a:ext cx="6950764" cy="93987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0E917AEF-BCB1-43C3-31C5-0B631E0D8EED}"/>
              </a:ext>
            </a:extLst>
          </p:cNvPr>
          <p:cNvSpPr/>
          <p:nvPr/>
        </p:nvSpPr>
        <p:spPr>
          <a:xfrm>
            <a:off x="7772772" y="7115250"/>
            <a:ext cx="2900840" cy="336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After KM Implementation:</a:t>
            </a:r>
            <a:endParaRPr lang="en-US" sz="165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A7900EDF-1258-0FCB-2A7D-2BBC861AE322}"/>
              </a:ext>
            </a:extLst>
          </p:cNvPr>
          <p:cNvSpPr/>
          <p:nvPr/>
        </p:nvSpPr>
        <p:spPr>
          <a:xfrm>
            <a:off x="10571786" y="7061910"/>
            <a:ext cx="3608117" cy="672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Centralized knowledge → Faster decision-making → Retention boost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F5D779-CCD9-C7E6-A78F-4E04A5530AF4}"/>
              </a:ext>
            </a:extLst>
          </p:cNvPr>
          <p:cNvSpPr/>
          <p:nvPr/>
        </p:nvSpPr>
        <p:spPr>
          <a:xfrm>
            <a:off x="4553910" y="3778389"/>
            <a:ext cx="7415927" cy="164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8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Thank You!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896749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928</Words>
  <Application>Microsoft Office PowerPoint</Application>
  <PresentationFormat>Custom</PresentationFormat>
  <Paragraphs>73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Barlow</vt:lpstr>
      <vt:lpstr>Arial</vt:lpstr>
      <vt:lpstr>Spline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Vidhu Jha</cp:lastModifiedBy>
  <cp:revision>25</cp:revision>
  <dcterms:created xsi:type="dcterms:W3CDTF">2025-06-18T07:14:05Z</dcterms:created>
  <dcterms:modified xsi:type="dcterms:W3CDTF">2025-06-18T08:31:48Z</dcterms:modified>
</cp:coreProperties>
</file>